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12"/>
    <p:sldId id="256" r:id="rId7"/>
    <p:sldId id="257" r:id="rId9"/>
    <p:sldId id="258" r:id="rId10"/>
    <p:sldId id="259" r:id="rId11"/>
    <p:sldId id="261" r:id="rId1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etl_pipeline.py and data_model.sql. Null project amounts become zero; zero-budget utilisation stays missing. Salary/experience corrections use valid same-level medians. Employee history uses the assumed 2025-07-01 export boundary; same-day events retain their final source state. These are implementation assumptions, not confirmed HR policy.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includes the existing dashboard_preview.png and links to the complete dashboard_mockup.pdf. The dashboard displays 264.2M allocated budget, 226.9M actual project spend, 29.0% projects over budget and 50,000 transactions. Project actual_cost and transaction spend are different source measures. PDF slicers are illustrative, not interactive.</a:t>
            </a:r>
          </a:p>
          <a:p/>
          <a:p>
            <a:r>
              <a:t>All six business questions are summarised above. Q2 uses the required &gt;3 active-project threshold. Q3 applies the required &gt;5% vendor share threshold; no source vendor qualifies. The measured query evidence in query_optimization.sql is 14.425 ms before and 6.143 ms after indexing, about 2.35x. SQLite uses EXPLAIN QUERY PLAN. The PDF now exists, so the earlier missing-export note has been removed.</a:t>
            </a:r>
          </a:p>
          <a:p/>
          <a:p>
            <a:r>
              <a:t>The PDF hyperlink is relative to this PPTX. Keep the supplied folder layout when sharing.</a:t>
            </a:r>
          </a:p>
          <a:p>
            <a:r>
              <a:t>Submission cleanup: the dashboard preview is embedded in this presentation. Regenerate the separate dashboard PDF with the Pillar 2 script; the old PDF link has been removed.</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 is the user's Airflow Graph view for Deepak_Etl_Pipeline at localhost:8082. The left-hand task grid has two columns of green success cells, including the end task, showing two completed successful runs. The graph on the right explains dependencies, while the header shows cron 0 6 * * * and the +04 timezone.</a:t>
            </a:r>
          </a:p>
          <a:p/>
          <a:p>
            <a:r>
              <a:t>Start branches into three independent extraction tasks. The quality gate waits for all three. If key completeness falls below 80%, it raises an error, and the default all_success dependency blocks downstream tasks. On passing data, transformation and enrichment produce staging files, the load task exports clean CSVs, and the report task pulls small XCom values (counts, quality results and paths). The end task completes the run. Large DataFrames stay in files rather than XCom.</a:t>
            </a:r>
          </a:p>
          <a:p/>
          <a:p>
            <a:r>
              <a:t>The screenshot shows successful execution, not a deliberately failed quality-gate test. The DAG configuration also includes two retries, a five-minute retry delay, no catchup and one active run. The submission uses the required presight_etl_pipeline ID. This screenshot documents earlier successful runs under the demonstration name Deepak_Etl_Pipeline.</a:t>
            </a:r>
          </a:p>
          <a:p/>
          <a:p>
            <a:r>
              <a:t>The other Big Data tasks remain part of Pillar 3: Spark reads all monthly files, validates IDs/deduplication and writes five partitioned Parquet summaries with timings; Kafka sends January events, counts them and forwards only Critical escalations. Saved evidence reports 99,996 Spark events and 8,333 Kafka events with 14 Critical forwards. Consumer throughput excludes producer delays.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linked data_governance_document.md contains the full Task 4.2 deliverable. It inventories four datasets, classifies every one of their 45 columns, defines owners/stewards/approvers, proposes retention and disposal, sets a least-privilege access matrix and shows source-to-reporting lineage. Sources are linked for UAE PDPL, conditional GDPR scope, labour record retention and corporate-tax evidence retention. Source systems, daily growth estimates and business policy periods are labelled assumptions.</a:t>
            </a:r>
          </a:p>
          <a:p/>
          <a:p>
            <a:r>
              <a:t>Salary history is personal and highly confidential, with ordinary engineer/analyst/executive access set to None. HR compensation roles and a separate approved service identity handle necessary access. Required payroll/tax evidence may outlast ordinary employee profile data. The document is policy documentation, not proof that the local files enforce these controls.</a:t>
            </a:r>
          </a:p>
          <a:p/>
          <a:p>
            <a:r>
              <a:t>Task 4.1 uses a multi-stage Python 3.11-slim image and the scoped ETL requirements file. Saved container verification measured 2.429 s for 50K transactions. Task 4.3 uses 79 CSV rules across six required dimensions plus freshness/distribution, with per-rule scores and warnings. New supported rules can be added in the CSV; a new check type still needs a handler.</a:t>
            </a:r>
          </a:p>
          <a:p/>
          <a:p>
            <a:r>
              <a:t>The governance document is in the Pillar 4 output folder; the hyperlink uses its relative path. The shareable ZIP preserves all document paths.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results/deepak_shinghal/04_infrastructure/data_governance_document.m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8229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51560"/>
            <a:ext cx="12801600" cy="457200"/>
          </a:xfrm>
          <a:prstGeom prst="rect">
            <a:avLst/>
          </a:prstGeom>
          <a:noFill/>
        </p:spPr>
        <p:txBody>
          <a:bodyPr wrap="none">
            <a:spAutoFit/>
          </a:bodyPr>
          <a:lstStyle/>
          <a:p>
            <a:pPr>
              <a:defRPr sz="1800" b="1">
                <a:solidFill>
                  <a:srgbClr val="087F8C"/>
                </a:solidFill>
                <a:latin typeface="Arial"/>
              </a:defRPr>
            </a:pPr>
            <a:r>
              <a:t>ENGINEERING ASSESSMENT</a:t>
            </a:r>
          </a:p>
        </p:txBody>
      </p:sp>
      <p:sp>
        <p:nvSpPr>
          <p:cNvPr id="4" name="TextBox 3"/>
          <p:cNvSpPr txBox="1"/>
          <p:nvPr/>
        </p:nvSpPr>
        <p:spPr>
          <a:xfrm>
            <a:off x="914400" y="2286000"/>
            <a:ext cx="12801600" cy="1188720"/>
          </a:xfrm>
          <a:prstGeom prst="rect">
            <a:avLst/>
          </a:prstGeom>
          <a:noFill/>
        </p:spPr>
        <p:txBody>
          <a:bodyPr wrap="none">
            <a:spAutoFit/>
          </a:bodyPr>
          <a:lstStyle/>
          <a:p>
            <a:pPr>
              <a:defRPr sz="4400" b="1">
                <a:solidFill>
                  <a:srgbClr val="152840"/>
                </a:solidFill>
                <a:latin typeface="Arial"/>
              </a:defRPr>
            </a:pPr>
            <a:r>
              <a:t>Engineering Assessment</a:t>
            </a:r>
          </a:p>
        </p:txBody>
      </p:sp>
      <p:sp>
        <p:nvSpPr>
          <p:cNvPr id="5" name="TextBox 4"/>
          <p:cNvSpPr txBox="1"/>
          <p:nvPr/>
        </p:nvSpPr>
        <p:spPr>
          <a:xfrm>
            <a:off x="914400" y="3703320"/>
            <a:ext cx="12801600" cy="914400"/>
          </a:xfrm>
          <a:prstGeom prst="rect">
            <a:avLst/>
          </a:prstGeom>
          <a:noFill/>
        </p:spPr>
        <p:txBody>
          <a:bodyPr wrap="none">
            <a:spAutoFit/>
          </a:bodyPr>
          <a:lstStyle/>
          <a:p>
            <a:pPr>
              <a:defRPr sz="2400" b="0">
                <a:solidFill>
                  <a:srgbClr val="536477"/>
                </a:solidFill>
                <a:latin typeface="Arial"/>
              </a:defRPr>
            </a:pPr>
            <a:r>
              <a:t>Four pillars: Foundations, SQL &amp; Visualisation, Big Data, and Governance</a:t>
            </a:r>
          </a:p>
        </p:txBody>
      </p:sp>
      <p:sp>
        <p:nvSpPr>
          <p:cNvPr id="6" name="TextBox 5"/>
          <p:cNvSpPr txBox="1"/>
          <p:nvPr/>
        </p:nvSpPr>
        <p:spPr>
          <a:xfrm>
            <a:off x="914400" y="6126480"/>
            <a:ext cx="12801600" cy="548640"/>
          </a:xfrm>
          <a:prstGeom prst="rect">
            <a:avLst/>
          </a:prstGeom>
          <a:noFill/>
        </p:spPr>
        <p:txBody>
          <a:bodyPr wrap="none">
            <a:spAutoFit/>
          </a:bodyPr>
          <a:lstStyle/>
          <a:p>
            <a:pPr>
              <a:defRPr sz="2400" b="1">
                <a:solidFill>
                  <a:srgbClr val="152840"/>
                </a:solidFill>
                <a:latin typeface="Arial"/>
              </a:defRPr>
            </a:pPr>
            <a:r>
              <a:t>Deepak Shinghal</a:t>
            </a:r>
          </a:p>
        </p:txBody>
      </p:sp>
      <p:sp>
        <p:nvSpPr>
          <p:cNvPr id="7" name="TextBox 6"/>
          <p:cNvSpPr txBox="1"/>
          <p:nvPr/>
        </p:nvSpPr>
        <p:spPr>
          <a:xfrm>
            <a:off x="914400" y="6812280"/>
            <a:ext cx="12801600" cy="365760"/>
          </a:xfrm>
          <a:prstGeom prst="rect">
            <a:avLst/>
          </a:prstGeom>
          <a:noFill/>
        </p:spPr>
        <p:txBody>
          <a:bodyPr wrap="none">
            <a:spAutoFit/>
          </a:bodyPr>
          <a:lstStyle/>
          <a:p>
            <a:pPr>
              <a:defRPr sz="1400" b="0">
                <a:solidFill>
                  <a:srgbClr val="536477"/>
                </a:solidFill>
                <a:latin typeface="Arial"/>
              </a:defRPr>
            </a:pPr>
            <a:r>
              <a:t>14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920240" cy="228600"/>
          </a:xfrm>
          <a:prstGeom prst="rect">
            <a:avLst/>
          </a:prstGeom>
          <a:noFill/>
        </p:spPr>
        <p:txBody>
          <a:bodyPr wrap="none" lIns="0" rIns="0" tIns="0" bIns="0">
            <a:spAutoFit/>
          </a:bodyPr>
          <a:lstStyle/>
          <a:p>
            <a:pPr>
              <a:lnSpc>
                <a:spcPct val="110000"/>
              </a:lnSpc>
              <a:spcBef>
                <a:spcPts val="0"/>
              </a:spcBef>
              <a:spcAft>
                <a:spcPts val="0"/>
              </a:spcAft>
              <a:defRPr sz="1300" b="1">
                <a:solidFill>
                  <a:srgbClr val="087F8C"/>
                </a:solidFill>
                <a:latin typeface="Arial"/>
              </a:defRPr>
            </a:pPr>
            <a:r>
              <a:rPr/>
              <a:t>PILLAR 01</a:t>
            </a:r>
          </a:p>
        </p:txBody>
      </p:sp>
      <p:sp>
        <p:nvSpPr>
          <p:cNvPr id="4" name="TextBox 3"/>
          <p:cNvSpPr txBox="1"/>
          <p:nvPr/>
        </p:nvSpPr>
        <p:spPr>
          <a:xfrm>
            <a:off x="548640" y="676656"/>
            <a:ext cx="13533120" cy="502920"/>
          </a:xfrm>
          <a:prstGeom prst="rect">
            <a:avLst/>
          </a:prstGeom>
          <a:noFill/>
        </p:spPr>
        <p:txBody>
          <a:bodyPr wrap="none" lIns="0" rIns="0" tIns="0" bIns="0">
            <a:spAutoFit/>
          </a:bodyPr>
          <a:lstStyle/>
          <a:p>
            <a:pPr>
              <a:lnSpc>
                <a:spcPct val="110000"/>
              </a:lnSpc>
              <a:spcBef>
                <a:spcPts val="0"/>
              </a:spcBef>
              <a:spcAft>
                <a:spcPts val="0"/>
              </a:spcAft>
              <a:defRPr sz="3000" b="1">
                <a:solidFill>
                  <a:srgbClr val="152840"/>
                </a:solidFill>
                <a:latin typeface="Arial"/>
              </a:defRPr>
            </a:pPr>
            <a:r>
              <a:rPr/>
              <a:t>Foundations</a:t>
            </a:r>
          </a:p>
        </p:txBody>
      </p:sp>
      <p:sp>
        <p:nvSpPr>
          <p:cNvPr id="5" name="TextBox 4"/>
          <p:cNvSpPr txBox="1"/>
          <p:nvPr/>
        </p:nvSpPr>
        <p:spPr>
          <a:xfrm>
            <a:off x="548640" y="1225296"/>
            <a:ext cx="13533120" cy="274320"/>
          </a:xfrm>
          <a:prstGeom prst="rect">
            <a:avLst/>
          </a:prstGeom>
          <a:noFill/>
        </p:spPr>
        <p:txBody>
          <a:bodyPr wrap="none" lIns="0" rIns="0" tIns="0" bIns="0">
            <a:spAutoFit/>
          </a:bodyPr>
          <a:lstStyle/>
          <a:p>
            <a:pPr>
              <a:lnSpc>
                <a:spcPct val="110000"/>
              </a:lnSpc>
              <a:spcBef>
                <a:spcPts val="0"/>
              </a:spcBef>
              <a:spcAft>
                <a:spcPts val="0"/>
              </a:spcAft>
              <a:defRPr sz="1500" b="0">
                <a:solidFill>
                  <a:srgbClr val="5F7185"/>
                </a:solidFill>
                <a:latin typeface="Arial"/>
              </a:defRPr>
            </a:pPr>
            <a:r>
              <a:rPr/>
              <a:t>Clean source data and build a warehouse that preserves employee history.</a:t>
            </a:r>
          </a:p>
        </p:txBody>
      </p:sp>
      <p:sp>
        <p:nvSpPr>
          <p:cNvPr id="6" name="Rectangle 5"/>
          <p:cNvSpPr/>
          <p:nvPr/>
        </p:nvSpPr>
        <p:spPr>
          <a:xfrm>
            <a:off x="548640" y="1755648"/>
            <a:ext cx="13533120" cy="393192"/>
          </a:xfrm>
          <a:prstGeom prst="rect">
            <a:avLst/>
          </a:prstGeom>
          <a:solidFill>
            <a:srgbClr val="15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47088"/>
            <a:ext cx="740664" cy="228600"/>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TASK</a:t>
            </a:r>
          </a:p>
        </p:txBody>
      </p:sp>
      <p:sp>
        <p:nvSpPr>
          <p:cNvPr id="8" name="TextBox 7"/>
          <p:cNvSpPr txBox="1"/>
          <p:nvPr/>
        </p:nvSpPr>
        <p:spPr>
          <a:xfrm>
            <a:off x="1618488" y="1847088"/>
            <a:ext cx="4032504" cy="228600"/>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QUESTION ASKED</a:t>
            </a:r>
          </a:p>
        </p:txBody>
      </p:sp>
      <p:sp>
        <p:nvSpPr>
          <p:cNvPr id="9" name="TextBox 8"/>
          <p:cNvSpPr txBox="1"/>
          <p:nvPr/>
        </p:nvSpPr>
        <p:spPr>
          <a:xfrm>
            <a:off x="5870448" y="1847088"/>
            <a:ext cx="8101583" cy="228600"/>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WHAT I DID</a:t>
            </a:r>
          </a:p>
        </p:txBody>
      </p:sp>
      <p:sp>
        <p:nvSpPr>
          <p:cNvPr id="10" name="Rectangle 9"/>
          <p:cNvSpPr/>
          <p:nvPr/>
        </p:nvSpPr>
        <p:spPr>
          <a:xfrm>
            <a:off x="548640" y="2148840"/>
            <a:ext cx="1353312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267712"/>
            <a:ext cx="740664" cy="1316736"/>
          </a:xfrm>
          <a:prstGeom prst="rect">
            <a:avLst/>
          </a:prstGeom>
          <a:noFill/>
        </p:spPr>
        <p:txBody>
          <a:bodyPr wrap="none" lIns="0" rIns="0" tIns="0" bIns="0">
            <a:spAutoFit/>
          </a:bodyPr>
          <a:lstStyle/>
          <a:p>
            <a:pPr>
              <a:lnSpc>
                <a:spcPct val="110000"/>
              </a:lnSpc>
              <a:spcBef>
                <a:spcPts val="0"/>
              </a:spcBef>
              <a:spcAft>
                <a:spcPts val="0"/>
              </a:spcAft>
              <a:defRPr sz="1900" b="1">
                <a:solidFill>
                  <a:srgbClr val="152840"/>
                </a:solidFill>
                <a:latin typeface="Arial"/>
              </a:defRPr>
            </a:pPr>
            <a:r>
              <a:rPr/>
              <a:t>1.1</a:t>
            </a:r>
          </a:p>
        </p:txBody>
      </p:sp>
      <p:sp>
        <p:nvSpPr>
          <p:cNvPr id="12" name="TextBox 11"/>
          <p:cNvSpPr txBox="1"/>
          <p:nvPr/>
        </p:nvSpPr>
        <p:spPr>
          <a:xfrm>
            <a:off x="1618488" y="2267712"/>
            <a:ext cx="4032504" cy="1316736"/>
          </a:xfrm>
          <a:prstGeom prst="rect">
            <a:avLst/>
          </a:prstGeom>
          <a:noFill/>
        </p:spPr>
        <p:txBody>
          <a:bodyPr wrap="none" lIns="0" rIns="0" tIns="0" bIns="0">
            <a:spAutoFit/>
          </a:bodyPr>
          <a:lstStyle/>
          <a:p>
            <a:pPr>
              <a:lnSpc>
                <a:spcPct val="110000"/>
              </a:lnSpc>
              <a:spcBef>
                <a:spcPts val="0"/>
              </a:spcBef>
              <a:spcAft>
                <a:spcPts val="0"/>
              </a:spcAft>
              <a:defRPr sz="1900" b="0">
                <a:solidFill>
                  <a:srgbClr val="263648"/>
                </a:solidFill>
                <a:latin typeface="Arial"/>
              </a:defRPr>
            </a:pPr>
            <a:r>
              <a:rPr/>
              <a:t>Clean projects, parse dates, calculate</a:t>
            </a:r>
          </a:p>
          <a:p>
            <a:pPr>
              <a:lnSpc>
                <a:spcPct val="110000"/>
              </a:lnSpc>
              <a:spcBef>
                <a:spcPts val="0"/>
              </a:spcBef>
              <a:spcAft>
                <a:spcPts val="0"/>
              </a:spcAft>
              <a:defRPr sz="1900" b="0">
                <a:solidFill>
                  <a:srgbClr val="263648"/>
                </a:solidFill>
                <a:latin typeface="Arial"/>
              </a:defRPr>
            </a:pPr>
            <a:r>
              <a:rPr/>
              <a:t>four metrics, standardise status and</a:t>
            </a:r>
          </a:p>
          <a:p>
            <a:pPr>
              <a:lnSpc>
                <a:spcPct val="110000"/>
              </a:lnSpc>
              <a:spcBef>
                <a:spcPts val="0"/>
              </a:spcBef>
              <a:spcAft>
                <a:spcPts val="0"/>
              </a:spcAft>
              <a:defRPr sz="1900" b="0">
                <a:solidFill>
                  <a:srgbClr val="263648"/>
                </a:solidFill>
                <a:latin typeface="Arial"/>
              </a:defRPr>
            </a:pPr>
            <a:r>
              <a:rPr/>
              <a:t>assign risk.</a:t>
            </a:r>
          </a:p>
        </p:txBody>
      </p:sp>
      <p:sp>
        <p:nvSpPr>
          <p:cNvPr id="13" name="TextBox 12"/>
          <p:cNvSpPr txBox="1"/>
          <p:nvPr/>
        </p:nvSpPr>
        <p:spPr>
          <a:xfrm>
            <a:off x="5870448" y="2267712"/>
            <a:ext cx="8101583" cy="1316736"/>
          </a:xfrm>
          <a:prstGeom prst="rect">
            <a:avLst/>
          </a:prstGeom>
          <a:noFill/>
        </p:spPr>
        <p:txBody>
          <a:bodyPr wrap="none" lIns="0" rIns="0" tIns="0" bIns="0">
            <a:spAutoFit/>
          </a:bodyPr>
          <a:lstStyle/>
          <a:p>
            <a:pPr>
              <a:lnSpc>
                <a:spcPct val="110000"/>
              </a:lnSpc>
              <a:spcBef>
                <a:spcPts val="0"/>
              </a:spcBef>
              <a:spcAft>
                <a:spcPts val="0"/>
              </a:spcAft>
              <a:defRPr sz="1900" b="0">
                <a:solidFill>
                  <a:srgbClr val="263648"/>
                </a:solidFill>
                <a:latin typeface="Arial"/>
              </a:defRPr>
            </a:pPr>
            <a:r>
              <a:rPr/>
              <a:t>Loaded 500 projects with Pandas. Added variance, over-budget flag, duration</a:t>
            </a:r>
          </a:p>
          <a:p>
            <a:pPr>
              <a:lnSpc>
                <a:spcPct val="110000"/>
              </a:lnSpc>
              <a:spcBef>
                <a:spcPts val="0"/>
              </a:spcBef>
              <a:spcAft>
                <a:spcPts val="0"/>
              </a:spcAft>
              <a:defRPr sz="1900" b="0">
                <a:solidFill>
                  <a:srgbClr val="263648"/>
                </a:solidFill>
                <a:latin typeface="Arial"/>
              </a:defRPr>
            </a:pPr>
            <a:r>
              <a:rPr/>
              <a:t>and utilisation; handled missing amounts/zero budgets; mapped status and</a:t>
            </a:r>
          </a:p>
          <a:p>
            <a:pPr>
              <a:lnSpc>
                <a:spcPct val="110000"/>
              </a:lnSpc>
              <a:spcBef>
                <a:spcPts val="0"/>
              </a:spcBef>
              <a:spcAft>
                <a:spcPts val="0"/>
              </a:spcAft>
              <a:defRPr sz="1900" b="0">
                <a:solidFill>
                  <a:srgbClr val="263648"/>
                </a:solidFill>
                <a:latin typeface="Arial"/>
              </a:defRPr>
            </a:pPr>
            <a:r>
              <a:rPr/>
              <a:t>prioritised High risk.</a:t>
            </a:r>
          </a:p>
        </p:txBody>
      </p:sp>
      <p:sp>
        <p:nvSpPr>
          <p:cNvPr id="14" name="Rectangle 13"/>
          <p:cNvSpPr/>
          <p:nvPr/>
        </p:nvSpPr>
        <p:spPr>
          <a:xfrm>
            <a:off x="548640" y="3703320"/>
            <a:ext cx="13533120" cy="1554480"/>
          </a:xfrm>
          <a:prstGeom prst="rect">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822191"/>
            <a:ext cx="740664" cy="1316736"/>
          </a:xfrm>
          <a:prstGeom prst="rect">
            <a:avLst/>
          </a:prstGeom>
          <a:noFill/>
        </p:spPr>
        <p:txBody>
          <a:bodyPr wrap="none" lIns="0" rIns="0" tIns="0" bIns="0">
            <a:spAutoFit/>
          </a:bodyPr>
          <a:lstStyle/>
          <a:p>
            <a:pPr>
              <a:lnSpc>
                <a:spcPct val="110000"/>
              </a:lnSpc>
              <a:spcBef>
                <a:spcPts val="0"/>
              </a:spcBef>
              <a:spcAft>
                <a:spcPts val="0"/>
              </a:spcAft>
              <a:defRPr sz="1900" b="1">
                <a:solidFill>
                  <a:srgbClr val="152840"/>
                </a:solidFill>
                <a:latin typeface="Arial"/>
              </a:defRPr>
            </a:pPr>
            <a:r>
              <a:rPr/>
              <a:t>1.2</a:t>
            </a:r>
          </a:p>
        </p:txBody>
      </p:sp>
      <p:sp>
        <p:nvSpPr>
          <p:cNvPr id="16" name="TextBox 15"/>
          <p:cNvSpPr txBox="1"/>
          <p:nvPr/>
        </p:nvSpPr>
        <p:spPr>
          <a:xfrm>
            <a:off x="1618488" y="3822191"/>
            <a:ext cx="4032504" cy="1316736"/>
          </a:xfrm>
          <a:prstGeom prst="rect">
            <a:avLst/>
          </a:prstGeom>
          <a:noFill/>
        </p:spPr>
        <p:txBody>
          <a:bodyPr wrap="none" lIns="0" rIns="0" tIns="0" bIns="0">
            <a:spAutoFit/>
          </a:bodyPr>
          <a:lstStyle/>
          <a:p>
            <a:pPr>
              <a:lnSpc>
                <a:spcPct val="110000"/>
              </a:lnSpc>
              <a:spcBef>
                <a:spcPts val="0"/>
              </a:spcBef>
              <a:spcAft>
                <a:spcPts val="0"/>
              </a:spcAft>
              <a:defRPr sz="1900" b="0">
                <a:solidFill>
                  <a:srgbClr val="263648"/>
                </a:solidFill>
                <a:latin typeface="Arial"/>
              </a:defRPr>
            </a:pPr>
            <a:r>
              <a:rPr/>
              <a:t>Design a star schema with SCD Type</a:t>
            </a:r>
          </a:p>
          <a:p>
            <a:pPr>
              <a:lnSpc>
                <a:spcPct val="110000"/>
              </a:lnSpc>
              <a:spcBef>
                <a:spcPts val="0"/>
              </a:spcBef>
              <a:spcAft>
                <a:spcPts val="0"/>
              </a:spcAft>
              <a:defRPr sz="1900" b="0">
                <a:solidFill>
                  <a:srgbClr val="263648"/>
                </a:solidFill>
                <a:latin typeface="Arial"/>
              </a:defRPr>
            </a:pPr>
            <a:r>
              <a:rPr/>
              <a:t>2 employee history and validate its</a:t>
            </a:r>
          </a:p>
          <a:p>
            <a:pPr>
              <a:lnSpc>
                <a:spcPct val="110000"/>
              </a:lnSpc>
              <a:spcBef>
                <a:spcPts val="0"/>
              </a:spcBef>
              <a:spcAft>
                <a:spcPts val="0"/>
              </a:spcAft>
              <a:defRPr sz="1900" b="0">
                <a:solidFill>
                  <a:srgbClr val="263648"/>
                </a:solidFill>
                <a:latin typeface="Arial"/>
              </a:defRPr>
            </a:pPr>
            <a:r>
              <a:rPr/>
              <a:t>integrity.</a:t>
            </a:r>
          </a:p>
        </p:txBody>
      </p:sp>
      <p:sp>
        <p:nvSpPr>
          <p:cNvPr id="17" name="TextBox 16"/>
          <p:cNvSpPr txBox="1"/>
          <p:nvPr/>
        </p:nvSpPr>
        <p:spPr>
          <a:xfrm>
            <a:off x="5870448" y="3822191"/>
            <a:ext cx="8101583" cy="1316736"/>
          </a:xfrm>
          <a:prstGeom prst="rect">
            <a:avLst/>
          </a:prstGeom>
          <a:noFill/>
        </p:spPr>
        <p:txBody>
          <a:bodyPr wrap="none" lIns="0" rIns="0" tIns="0" bIns="0">
            <a:spAutoFit/>
          </a:bodyPr>
          <a:lstStyle/>
          <a:p>
            <a:pPr>
              <a:lnSpc>
                <a:spcPct val="110000"/>
              </a:lnSpc>
              <a:spcBef>
                <a:spcPts val="0"/>
              </a:spcBef>
              <a:spcAft>
                <a:spcPts val="0"/>
              </a:spcAft>
              <a:defRPr sz="1900" b="0">
                <a:solidFill>
                  <a:srgbClr val="263648"/>
                </a:solidFill>
                <a:latin typeface="Arial"/>
              </a:defRPr>
            </a:pPr>
            <a:r>
              <a:rPr/>
              <a:t>Built date, project, employee and vendor dimensions, a bridge and transaction</a:t>
            </a:r>
          </a:p>
          <a:p>
            <a:pPr>
              <a:lnSpc>
                <a:spcPct val="110000"/>
              </a:lnSpc>
              <a:spcBef>
                <a:spcPts val="0"/>
              </a:spcBef>
              <a:spcAft>
                <a:spcPts val="0"/>
              </a:spcAft>
              <a:defRPr sz="1900" b="0">
                <a:solidFill>
                  <a:srgbClr val="263648"/>
                </a:solidFill>
                <a:latin typeface="Arial"/>
              </a:defRPr>
            </a:pPr>
            <a:r>
              <a:rPr/>
              <a:t>facts. Added surrogate keys, validity periods and one current employee</a:t>
            </a:r>
          </a:p>
          <a:p>
            <a:pPr>
              <a:lnSpc>
                <a:spcPct val="110000"/>
              </a:lnSpc>
              <a:spcBef>
                <a:spcPts val="0"/>
              </a:spcBef>
              <a:spcAft>
                <a:spcPts val="0"/>
              </a:spcAft>
              <a:defRPr sz="1900" b="0">
                <a:solidFill>
                  <a:srgbClr val="263648"/>
                </a:solidFill>
                <a:latin typeface="Arial"/>
              </a:defRPr>
            </a:pPr>
            <a:r>
              <a:rPr/>
              <a:t>version; checked overlaps and foreign keys.</a:t>
            </a:r>
          </a:p>
        </p:txBody>
      </p:sp>
      <p:sp>
        <p:nvSpPr>
          <p:cNvPr id="18" name="Rectangle 17"/>
          <p:cNvSpPr/>
          <p:nvPr/>
        </p:nvSpPr>
        <p:spPr>
          <a:xfrm>
            <a:off x="548640" y="5257800"/>
            <a:ext cx="1353312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376672"/>
            <a:ext cx="740664" cy="1316736"/>
          </a:xfrm>
          <a:prstGeom prst="rect">
            <a:avLst/>
          </a:prstGeom>
          <a:noFill/>
        </p:spPr>
        <p:txBody>
          <a:bodyPr wrap="none" lIns="0" rIns="0" tIns="0" bIns="0">
            <a:spAutoFit/>
          </a:bodyPr>
          <a:lstStyle/>
          <a:p>
            <a:pPr>
              <a:lnSpc>
                <a:spcPct val="110000"/>
              </a:lnSpc>
              <a:spcBef>
                <a:spcPts val="0"/>
              </a:spcBef>
              <a:spcAft>
                <a:spcPts val="0"/>
              </a:spcAft>
              <a:defRPr sz="1900" b="1">
                <a:solidFill>
                  <a:srgbClr val="152840"/>
                </a:solidFill>
                <a:latin typeface="Arial"/>
              </a:defRPr>
            </a:pPr>
            <a:r>
              <a:rPr/>
              <a:t>1.3</a:t>
            </a:r>
          </a:p>
        </p:txBody>
      </p:sp>
      <p:sp>
        <p:nvSpPr>
          <p:cNvPr id="20" name="TextBox 19"/>
          <p:cNvSpPr txBox="1"/>
          <p:nvPr/>
        </p:nvSpPr>
        <p:spPr>
          <a:xfrm>
            <a:off x="1618488" y="5376672"/>
            <a:ext cx="4032504" cy="1316736"/>
          </a:xfrm>
          <a:prstGeom prst="rect">
            <a:avLst/>
          </a:prstGeom>
          <a:noFill/>
        </p:spPr>
        <p:txBody>
          <a:bodyPr wrap="none" lIns="0" rIns="0" tIns="0" bIns="0">
            <a:spAutoFit/>
          </a:bodyPr>
          <a:lstStyle/>
          <a:p>
            <a:pPr>
              <a:lnSpc>
                <a:spcPct val="110000"/>
              </a:lnSpc>
              <a:spcBef>
                <a:spcPts val="0"/>
              </a:spcBef>
              <a:spcAft>
                <a:spcPts val="0"/>
              </a:spcAft>
              <a:defRPr sz="1900" b="0">
                <a:solidFill>
                  <a:srgbClr val="263648"/>
                </a:solidFill>
                <a:latin typeface="Arial"/>
              </a:defRPr>
            </a:pPr>
            <a:r>
              <a:rPr/>
              <a:t>Find all employee quality issues,</a:t>
            </a:r>
          </a:p>
          <a:p>
            <a:pPr>
              <a:lnSpc>
                <a:spcPct val="110000"/>
              </a:lnSpc>
              <a:spcBef>
                <a:spcPts val="0"/>
              </a:spcBef>
              <a:spcAft>
                <a:spcPts val="0"/>
              </a:spcAft>
              <a:defRPr sz="1900" b="0">
                <a:solidFill>
                  <a:srgbClr val="263648"/>
                </a:solidFill>
                <a:latin typeface="Arial"/>
              </a:defRPr>
            </a:pPr>
            <a:r>
              <a:rPr/>
              <a:t>document fixes and report affected</a:t>
            </a:r>
          </a:p>
          <a:p>
            <a:pPr>
              <a:lnSpc>
                <a:spcPct val="110000"/>
              </a:lnSpc>
              <a:spcBef>
                <a:spcPts val="0"/>
              </a:spcBef>
              <a:spcAft>
                <a:spcPts val="0"/>
              </a:spcAft>
              <a:defRPr sz="1900" b="0">
                <a:solidFill>
                  <a:srgbClr val="263648"/>
                </a:solidFill>
                <a:latin typeface="Arial"/>
              </a:defRPr>
            </a:pPr>
            <a:r>
              <a:rPr/>
              <a:t>rows.</a:t>
            </a:r>
          </a:p>
        </p:txBody>
      </p:sp>
      <p:sp>
        <p:nvSpPr>
          <p:cNvPr id="21" name="TextBox 20"/>
          <p:cNvSpPr txBox="1"/>
          <p:nvPr/>
        </p:nvSpPr>
        <p:spPr>
          <a:xfrm>
            <a:off x="5870448" y="5376672"/>
            <a:ext cx="8101583" cy="1316736"/>
          </a:xfrm>
          <a:prstGeom prst="rect">
            <a:avLst/>
          </a:prstGeom>
          <a:noFill/>
        </p:spPr>
        <p:txBody>
          <a:bodyPr wrap="none" lIns="0" rIns="0" tIns="0" bIns="0">
            <a:spAutoFit/>
          </a:bodyPr>
          <a:lstStyle/>
          <a:p>
            <a:pPr>
              <a:lnSpc>
                <a:spcPct val="110000"/>
              </a:lnSpc>
              <a:spcBef>
                <a:spcPts val="0"/>
              </a:spcBef>
              <a:spcAft>
                <a:spcPts val="0"/>
              </a:spcAft>
              <a:defRPr sz="1900" b="0">
                <a:solidFill>
                  <a:srgbClr val="263648"/>
                </a:solidFill>
                <a:latin typeface="Arial"/>
              </a:defRPr>
            </a:pPr>
            <a:r>
              <a:rPr/>
              <a:t>Checked all 1,000 employees for missing fields, email/date errors,</a:t>
            </a:r>
          </a:p>
          <a:p>
            <a:pPr>
              <a:lnSpc>
                <a:spcPct val="110000"/>
              </a:lnSpc>
              <a:spcBef>
                <a:spcPts val="0"/>
              </a:spcBef>
              <a:spcAft>
                <a:spcPts val="0"/>
              </a:spcAft>
              <a:defRPr sz="1900" b="0">
                <a:solidFill>
                  <a:srgbClr val="263648"/>
                </a:solidFill>
                <a:latin typeface="Arial"/>
              </a:defRPr>
            </a:pPr>
            <a:r>
              <a:rPr/>
              <a:t>salary/experience ranges and status conflicts. Applied documented fixes,</a:t>
            </a:r>
          </a:p>
          <a:p>
            <a:pPr>
              <a:lnSpc>
                <a:spcPct val="110000"/>
              </a:lnSpc>
              <a:spcBef>
                <a:spcPts val="0"/>
              </a:spcBef>
              <a:spcAft>
                <a:spcPts val="0"/>
              </a:spcAft>
              <a:defRPr sz="1900" b="0">
                <a:solidFill>
                  <a:srgbClr val="263648"/>
                </a:solidFill>
                <a:latin typeface="Arial"/>
              </a:defRPr>
            </a:pPr>
            <a:r>
              <a:rPr/>
              <a:t>logged counts and saved the correction audit.</a:t>
            </a:r>
          </a:p>
        </p:txBody>
      </p:sp>
      <p:sp>
        <p:nvSpPr>
          <p:cNvPr id="22" name="TextBox 21"/>
          <p:cNvSpPr txBox="1"/>
          <p:nvPr/>
        </p:nvSpPr>
        <p:spPr>
          <a:xfrm>
            <a:off x="548640" y="7598664"/>
            <a:ext cx="13533120" cy="347472"/>
          </a:xfrm>
          <a:prstGeom prst="rect">
            <a:avLst/>
          </a:prstGeom>
          <a:noFill/>
        </p:spPr>
        <p:txBody>
          <a:bodyPr wrap="none" lIns="0" rIns="0" tIns="0" bIns="0">
            <a:spAutoFit/>
          </a:bodyPr>
          <a:lstStyle/>
          <a:p>
            <a:pPr>
              <a:lnSpc>
                <a:spcPct val="110000"/>
              </a:lnSpc>
              <a:spcBef>
                <a:spcPts val="0"/>
              </a:spcBef>
              <a:spcAft>
                <a:spcPts val="0"/>
              </a:spcAft>
              <a:defRPr sz="1200" b="0">
                <a:solidFill>
                  <a:srgbClr val="5F7185"/>
                </a:solidFill>
                <a:latin typeface="Arial"/>
              </a:defRPr>
            </a:pPr>
            <a:r>
              <a:rPr/>
              <a:t>Evidence: 500 projects • 1,000 employees • 50,000 transactions • 1,826 salary-history records</a:t>
            </a:r>
          </a:p>
        </p:txBody>
      </p:sp>
      <p:sp>
        <p:nvSpPr>
          <p:cNvPr id="23" name="TextBox 22"/>
          <p:cNvSpPr txBox="1"/>
          <p:nvPr/>
        </p:nvSpPr>
        <p:spPr>
          <a:xfrm>
            <a:off x="548640" y="8028431"/>
            <a:ext cx="12344400" cy="182880"/>
          </a:xfrm>
          <a:prstGeom prst="rect">
            <a:avLst/>
          </a:prstGeom>
          <a:noFill/>
        </p:spPr>
        <p:txBody>
          <a:bodyPr wrap="none" lIns="0" rIns="0" tIns="0" bIns="0">
            <a:spAutoFit/>
          </a:bodyPr>
          <a:lstStyle/>
          <a:p>
            <a:pPr>
              <a:lnSpc>
                <a:spcPct val="110000"/>
              </a:lnSpc>
              <a:spcBef>
                <a:spcPts val="0"/>
              </a:spcBef>
              <a:spcAft>
                <a:spcPts val="0"/>
              </a:spcAft>
              <a:defRPr sz="1000" b="0">
                <a:solidFill>
                  <a:srgbClr val="5F7185"/>
                </a:solidFill>
                <a:latin typeface="Arial"/>
              </a:defRPr>
            </a:pPr>
            <a:r>
              <a:rPr/>
              <a:t>Deepak Shinghal | Engineering Assessment | 14 October 2026</a:t>
            </a:r>
          </a:p>
        </p:txBody>
      </p:sp>
      <p:sp>
        <p:nvSpPr>
          <p:cNvPr id="24" name="TextBox 23"/>
          <p:cNvSpPr txBox="1"/>
          <p:nvPr/>
        </p:nvSpPr>
        <p:spPr>
          <a:xfrm>
            <a:off x="13624560" y="8028431"/>
            <a:ext cx="457200" cy="182880"/>
          </a:xfrm>
          <a:prstGeom prst="rect">
            <a:avLst/>
          </a:prstGeom>
          <a:noFill/>
        </p:spPr>
        <p:txBody>
          <a:bodyPr wrap="none" lIns="0" rIns="0" tIns="0" bIns="0">
            <a:spAutoFit/>
          </a:bodyPr>
          <a:lstStyle/>
          <a:p>
            <a:pPr>
              <a:lnSpc>
                <a:spcPct val="110000"/>
              </a:lnSpc>
              <a:spcBef>
                <a:spcPts val="0"/>
              </a:spcBef>
              <a:spcAft>
                <a:spcPts val="0"/>
              </a:spcAft>
              <a:defRPr sz="1000" b="0">
                <a:solidFill>
                  <a:srgbClr val="5F7185"/>
                </a:solidFill>
                <a:latin typeface="Arial"/>
              </a:defRPr>
            </a:pPr>
            <a:r>
              <a:rPr/>
              <a:t>02 /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920240" cy="228600"/>
          </a:xfrm>
          <a:prstGeom prst="rect">
            <a:avLst/>
          </a:prstGeom>
          <a:noFill/>
        </p:spPr>
        <p:txBody>
          <a:bodyPr wrap="none" lIns="0" rIns="0" tIns="0" bIns="0">
            <a:spAutoFit/>
          </a:bodyPr>
          <a:lstStyle/>
          <a:p>
            <a:pPr>
              <a:lnSpc>
                <a:spcPct val="110000"/>
              </a:lnSpc>
              <a:spcBef>
                <a:spcPts val="0"/>
              </a:spcBef>
              <a:spcAft>
                <a:spcPts val="0"/>
              </a:spcAft>
              <a:defRPr sz="1300" b="1">
                <a:solidFill>
                  <a:srgbClr val="087F8C"/>
                </a:solidFill>
                <a:latin typeface="Arial"/>
              </a:defRPr>
            </a:pPr>
            <a:r>
              <a:rPr/>
              <a:t>PILLAR 02</a:t>
            </a:r>
          </a:p>
        </p:txBody>
      </p:sp>
      <p:sp>
        <p:nvSpPr>
          <p:cNvPr id="4" name="TextBox 3"/>
          <p:cNvSpPr txBox="1"/>
          <p:nvPr/>
        </p:nvSpPr>
        <p:spPr>
          <a:xfrm>
            <a:off x="548640" y="676656"/>
            <a:ext cx="13533120" cy="502920"/>
          </a:xfrm>
          <a:prstGeom prst="rect">
            <a:avLst/>
          </a:prstGeom>
          <a:noFill/>
        </p:spPr>
        <p:txBody>
          <a:bodyPr wrap="none" lIns="0" rIns="0" tIns="0" bIns="0">
            <a:spAutoFit/>
          </a:bodyPr>
          <a:lstStyle/>
          <a:p>
            <a:pPr>
              <a:lnSpc>
                <a:spcPct val="110000"/>
              </a:lnSpc>
              <a:spcBef>
                <a:spcPts val="0"/>
              </a:spcBef>
              <a:spcAft>
                <a:spcPts val="0"/>
              </a:spcAft>
              <a:defRPr sz="3000" b="1">
                <a:solidFill>
                  <a:srgbClr val="152840"/>
                </a:solidFill>
                <a:latin typeface="Arial"/>
              </a:defRPr>
            </a:pPr>
            <a:r>
              <a:rPr/>
              <a:t>SQL &amp; Data Visualisation</a:t>
            </a:r>
          </a:p>
        </p:txBody>
      </p:sp>
      <p:sp>
        <p:nvSpPr>
          <p:cNvPr id="5" name="TextBox 4"/>
          <p:cNvSpPr txBox="1"/>
          <p:nvPr/>
        </p:nvSpPr>
        <p:spPr>
          <a:xfrm>
            <a:off x="548640" y="1225296"/>
            <a:ext cx="13533120" cy="274320"/>
          </a:xfrm>
          <a:prstGeom prst="rect">
            <a:avLst/>
          </a:prstGeom>
          <a:noFill/>
        </p:spPr>
        <p:txBody>
          <a:bodyPr wrap="none" lIns="0" rIns="0" tIns="0" bIns="0">
            <a:spAutoFit/>
          </a:bodyPr>
          <a:lstStyle/>
          <a:p>
            <a:pPr>
              <a:lnSpc>
                <a:spcPct val="110000"/>
              </a:lnSpc>
              <a:spcBef>
                <a:spcPts val="0"/>
              </a:spcBef>
              <a:spcAft>
                <a:spcPts val="0"/>
              </a:spcAft>
              <a:defRPr sz="1500" b="0">
                <a:solidFill>
                  <a:srgbClr val="5F7185"/>
                </a:solidFill>
                <a:latin typeface="Arial"/>
              </a:defRPr>
            </a:pPr>
            <a:r>
              <a:rPr/>
              <a:t>Business questions, transaction ETL, SQL optimisation and the executive dashboard.</a:t>
            </a:r>
          </a:p>
        </p:txBody>
      </p:sp>
      <p:sp>
        <p:nvSpPr>
          <p:cNvPr id="6" name="Rectangle 5"/>
          <p:cNvSpPr/>
          <p:nvPr/>
        </p:nvSpPr>
        <p:spPr>
          <a:xfrm>
            <a:off x="548640" y="1755648"/>
            <a:ext cx="13533120" cy="393192"/>
          </a:xfrm>
          <a:prstGeom prst="rect">
            <a:avLst/>
          </a:prstGeom>
          <a:solidFill>
            <a:srgbClr val="15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47088"/>
            <a:ext cx="740664" cy="228600"/>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TASK</a:t>
            </a:r>
          </a:p>
        </p:txBody>
      </p:sp>
      <p:sp>
        <p:nvSpPr>
          <p:cNvPr id="8" name="TextBox 7"/>
          <p:cNvSpPr txBox="1"/>
          <p:nvPr/>
        </p:nvSpPr>
        <p:spPr>
          <a:xfrm>
            <a:off x="1618488" y="1847088"/>
            <a:ext cx="4032504" cy="228600"/>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QUESTION ASKED</a:t>
            </a:r>
          </a:p>
        </p:txBody>
      </p:sp>
      <p:sp>
        <p:nvSpPr>
          <p:cNvPr id="9" name="TextBox 8"/>
          <p:cNvSpPr txBox="1"/>
          <p:nvPr/>
        </p:nvSpPr>
        <p:spPr>
          <a:xfrm>
            <a:off x="5870448" y="1847088"/>
            <a:ext cx="8101583" cy="228600"/>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WHAT I DID</a:t>
            </a:r>
          </a:p>
        </p:txBody>
      </p:sp>
      <p:sp>
        <p:nvSpPr>
          <p:cNvPr id="10" name="Rectangle 9"/>
          <p:cNvSpPr/>
          <p:nvPr/>
        </p:nvSpPr>
        <p:spPr>
          <a:xfrm>
            <a:off x="548640" y="2148840"/>
            <a:ext cx="1353312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212848"/>
            <a:ext cx="740664" cy="301752"/>
          </a:xfrm>
          <a:prstGeom prst="rect">
            <a:avLst/>
          </a:prstGeom>
          <a:noFill/>
        </p:spPr>
        <p:txBody>
          <a:bodyPr wrap="none" lIns="0" rIns="0" tIns="0" bIns="0">
            <a:spAutoFit/>
          </a:bodyPr>
          <a:lstStyle/>
          <a:p>
            <a:pPr>
              <a:lnSpc>
                <a:spcPct val="110000"/>
              </a:lnSpc>
              <a:spcBef>
                <a:spcPts val="0"/>
              </a:spcBef>
              <a:spcAft>
                <a:spcPts val="0"/>
              </a:spcAft>
              <a:defRPr sz="1400" b="1">
                <a:solidFill>
                  <a:srgbClr val="152840"/>
                </a:solidFill>
                <a:latin typeface="Arial"/>
              </a:defRPr>
            </a:pPr>
            <a:r>
              <a:rPr/>
              <a:t>2.1 Q1</a:t>
            </a:r>
          </a:p>
        </p:txBody>
      </p:sp>
      <p:sp>
        <p:nvSpPr>
          <p:cNvPr id="12" name="TextBox 11"/>
          <p:cNvSpPr txBox="1"/>
          <p:nvPr/>
        </p:nvSpPr>
        <p:spPr>
          <a:xfrm>
            <a:off x="1618488" y="2212848"/>
            <a:ext cx="4032504"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Departments spending &gt;90% of budget.</a:t>
            </a:r>
          </a:p>
        </p:txBody>
      </p:sp>
      <p:sp>
        <p:nvSpPr>
          <p:cNvPr id="13" name="TextBox 12"/>
          <p:cNvSpPr txBox="1"/>
          <p:nvPr/>
        </p:nvSpPr>
        <p:spPr>
          <a:xfrm>
            <a:off x="5870448" y="2212848"/>
            <a:ext cx="8101583"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Grouped budgets/costs; calculated spend percentage and over-budget flag.</a:t>
            </a:r>
          </a:p>
        </p:txBody>
      </p:sp>
      <p:sp>
        <p:nvSpPr>
          <p:cNvPr id="14" name="Rectangle 13"/>
          <p:cNvSpPr/>
          <p:nvPr/>
        </p:nvSpPr>
        <p:spPr>
          <a:xfrm>
            <a:off x="548640" y="2578608"/>
            <a:ext cx="13533120" cy="429768"/>
          </a:xfrm>
          <a:prstGeom prst="rect">
            <a:avLst/>
          </a:prstGeom>
          <a:solidFill>
            <a:srgbClr val="FFF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642616"/>
            <a:ext cx="740664" cy="301752"/>
          </a:xfrm>
          <a:prstGeom prst="rect">
            <a:avLst/>
          </a:prstGeom>
          <a:noFill/>
        </p:spPr>
        <p:txBody>
          <a:bodyPr wrap="none" lIns="0" rIns="0" tIns="0" bIns="0">
            <a:spAutoFit/>
          </a:bodyPr>
          <a:lstStyle/>
          <a:p>
            <a:pPr>
              <a:lnSpc>
                <a:spcPct val="110000"/>
              </a:lnSpc>
              <a:spcBef>
                <a:spcPts val="0"/>
              </a:spcBef>
              <a:spcAft>
                <a:spcPts val="0"/>
              </a:spcAft>
              <a:defRPr sz="1400" b="1">
                <a:solidFill>
                  <a:srgbClr val="152840"/>
                </a:solidFill>
                <a:latin typeface="Arial"/>
              </a:defRPr>
            </a:pPr>
            <a:r>
              <a:rPr/>
              <a:t>2.1 Q2</a:t>
            </a:r>
          </a:p>
        </p:txBody>
      </p:sp>
      <p:sp>
        <p:nvSpPr>
          <p:cNvPr id="16" name="TextBox 15"/>
          <p:cNvSpPr txBox="1"/>
          <p:nvPr/>
        </p:nvSpPr>
        <p:spPr>
          <a:xfrm>
            <a:off x="1618488" y="2642616"/>
            <a:ext cx="4032504"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Current managers with &gt;3 active projects.</a:t>
            </a:r>
          </a:p>
        </p:txBody>
      </p:sp>
      <p:sp>
        <p:nvSpPr>
          <p:cNvPr id="17" name="TextBox 16"/>
          <p:cNvSpPr txBox="1"/>
          <p:nvPr/>
        </p:nvSpPr>
        <p:spPr>
          <a:xfrm>
            <a:off x="5870448" y="2642616"/>
            <a:ext cx="8101583"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Joined current employees; counted and filtered strictly more than 3 active projects.</a:t>
            </a:r>
          </a:p>
        </p:txBody>
      </p:sp>
      <p:sp>
        <p:nvSpPr>
          <p:cNvPr id="18" name="Rectangle 17"/>
          <p:cNvSpPr/>
          <p:nvPr/>
        </p:nvSpPr>
        <p:spPr>
          <a:xfrm>
            <a:off x="548640" y="3008376"/>
            <a:ext cx="13533120" cy="429768"/>
          </a:xfrm>
          <a:prstGeom prst="rect">
            <a:avLst/>
          </a:prstGeom>
          <a:solidFill>
            <a:srgbClr val="FFF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072384"/>
            <a:ext cx="740664" cy="301752"/>
          </a:xfrm>
          <a:prstGeom prst="rect">
            <a:avLst/>
          </a:prstGeom>
          <a:noFill/>
        </p:spPr>
        <p:txBody>
          <a:bodyPr wrap="none" lIns="0" rIns="0" tIns="0" bIns="0">
            <a:spAutoFit/>
          </a:bodyPr>
          <a:lstStyle/>
          <a:p>
            <a:pPr>
              <a:lnSpc>
                <a:spcPct val="110000"/>
              </a:lnSpc>
              <a:spcBef>
                <a:spcPts val="0"/>
              </a:spcBef>
              <a:spcAft>
                <a:spcPts val="0"/>
              </a:spcAft>
              <a:defRPr sz="1400" b="1">
                <a:solidFill>
                  <a:srgbClr val="152840"/>
                </a:solidFill>
                <a:latin typeface="Arial"/>
              </a:defRPr>
            </a:pPr>
            <a:r>
              <a:rPr/>
              <a:t>2.1 Q3</a:t>
            </a:r>
          </a:p>
        </p:txBody>
      </p:sp>
      <p:sp>
        <p:nvSpPr>
          <p:cNvPr id="20" name="TextBox 19"/>
          <p:cNvSpPr txBox="1"/>
          <p:nvPr/>
        </p:nvSpPr>
        <p:spPr>
          <a:xfrm>
            <a:off x="1618488" y="3072384"/>
            <a:ext cx="4032504"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Vendors with &gt;5% of spend; risk labels.</a:t>
            </a:r>
          </a:p>
        </p:txBody>
      </p:sp>
      <p:sp>
        <p:nvSpPr>
          <p:cNvPr id="21" name="TextBox 20"/>
          <p:cNvSpPr txBox="1"/>
          <p:nvPr/>
        </p:nvSpPr>
        <p:spPr>
          <a:xfrm>
            <a:off x="5870448" y="3072384"/>
            <a:ext cx="8101583"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Calculated vendor shares/risk flags and applied the strict &gt;5% spend filter.</a:t>
            </a:r>
          </a:p>
        </p:txBody>
      </p:sp>
      <p:sp>
        <p:nvSpPr>
          <p:cNvPr id="22" name="Rectangle 21"/>
          <p:cNvSpPr/>
          <p:nvPr/>
        </p:nvSpPr>
        <p:spPr>
          <a:xfrm>
            <a:off x="548640" y="3438144"/>
            <a:ext cx="13533120" cy="429768"/>
          </a:xfrm>
          <a:prstGeom prst="rect">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502151"/>
            <a:ext cx="740664" cy="301752"/>
          </a:xfrm>
          <a:prstGeom prst="rect">
            <a:avLst/>
          </a:prstGeom>
          <a:noFill/>
        </p:spPr>
        <p:txBody>
          <a:bodyPr wrap="none" lIns="0" rIns="0" tIns="0" bIns="0">
            <a:spAutoFit/>
          </a:bodyPr>
          <a:lstStyle/>
          <a:p>
            <a:pPr>
              <a:lnSpc>
                <a:spcPct val="110000"/>
              </a:lnSpc>
              <a:spcBef>
                <a:spcPts val="0"/>
              </a:spcBef>
              <a:spcAft>
                <a:spcPts val="0"/>
              </a:spcAft>
              <a:defRPr sz="1400" b="1">
                <a:solidFill>
                  <a:srgbClr val="152840"/>
                </a:solidFill>
                <a:latin typeface="Arial"/>
              </a:defRPr>
            </a:pPr>
            <a:r>
              <a:rPr/>
              <a:t>2.1 Q4</a:t>
            </a:r>
          </a:p>
        </p:txBody>
      </p:sp>
      <p:sp>
        <p:nvSpPr>
          <p:cNvPr id="24" name="TextBox 23"/>
          <p:cNvSpPr txBox="1"/>
          <p:nvPr/>
        </p:nvSpPr>
        <p:spPr>
          <a:xfrm>
            <a:off x="1618488" y="3502151"/>
            <a:ext cx="4032504"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Pending/disputed totals &gt;50,000 AED.</a:t>
            </a:r>
          </a:p>
        </p:txBody>
      </p:sp>
      <p:sp>
        <p:nvSpPr>
          <p:cNvPr id="25" name="TextBox 24"/>
          <p:cNvSpPr txBox="1"/>
          <p:nvPr/>
        </p:nvSpPr>
        <p:spPr>
          <a:xfrm>
            <a:off x="5870448" y="3502151"/>
            <a:ext cx="8101583"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Filtered status/currency; grouped projects and applied the value threshold.</a:t>
            </a:r>
          </a:p>
        </p:txBody>
      </p:sp>
      <p:sp>
        <p:nvSpPr>
          <p:cNvPr id="26" name="Rectangle 25"/>
          <p:cNvSpPr/>
          <p:nvPr/>
        </p:nvSpPr>
        <p:spPr>
          <a:xfrm>
            <a:off x="548640" y="3867911"/>
            <a:ext cx="1353312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931920"/>
            <a:ext cx="740664" cy="301752"/>
          </a:xfrm>
          <a:prstGeom prst="rect">
            <a:avLst/>
          </a:prstGeom>
          <a:noFill/>
        </p:spPr>
        <p:txBody>
          <a:bodyPr wrap="none" lIns="0" rIns="0" tIns="0" bIns="0">
            <a:spAutoFit/>
          </a:bodyPr>
          <a:lstStyle/>
          <a:p>
            <a:pPr>
              <a:lnSpc>
                <a:spcPct val="110000"/>
              </a:lnSpc>
              <a:spcBef>
                <a:spcPts val="0"/>
              </a:spcBef>
              <a:spcAft>
                <a:spcPts val="0"/>
              </a:spcAft>
              <a:defRPr sz="1400" b="1">
                <a:solidFill>
                  <a:srgbClr val="152840"/>
                </a:solidFill>
                <a:latin typeface="Arial"/>
              </a:defRPr>
            </a:pPr>
            <a:r>
              <a:rPr/>
              <a:t>2.1 Q5</a:t>
            </a:r>
          </a:p>
        </p:txBody>
      </p:sp>
      <p:sp>
        <p:nvSpPr>
          <p:cNvPr id="28" name="TextBox 27"/>
          <p:cNvSpPr txBox="1"/>
          <p:nvPr/>
        </p:nvSpPr>
        <p:spPr>
          <a:xfrm>
            <a:off x="1618488" y="3931920"/>
            <a:ext cx="4032504"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Monthly spend, running total and change.</a:t>
            </a:r>
          </a:p>
        </p:txBody>
      </p:sp>
      <p:sp>
        <p:nvSpPr>
          <p:cNvPr id="29" name="TextBox 28"/>
          <p:cNvSpPr txBox="1"/>
          <p:nvPr/>
        </p:nvSpPr>
        <p:spPr>
          <a:xfrm>
            <a:off x="5870448" y="3931920"/>
            <a:ext cx="8101583"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Used a calendar grid, SUM OVER and LAG to compare monthly/category spending.</a:t>
            </a:r>
          </a:p>
        </p:txBody>
      </p:sp>
      <p:sp>
        <p:nvSpPr>
          <p:cNvPr id="30" name="Rectangle 29"/>
          <p:cNvSpPr/>
          <p:nvPr/>
        </p:nvSpPr>
        <p:spPr>
          <a:xfrm>
            <a:off x="548640" y="4297679"/>
            <a:ext cx="13533120" cy="429768"/>
          </a:xfrm>
          <a:prstGeom prst="rect">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4361688"/>
            <a:ext cx="740664" cy="301752"/>
          </a:xfrm>
          <a:prstGeom prst="rect">
            <a:avLst/>
          </a:prstGeom>
          <a:noFill/>
        </p:spPr>
        <p:txBody>
          <a:bodyPr wrap="none" lIns="0" rIns="0" tIns="0" bIns="0">
            <a:spAutoFit/>
          </a:bodyPr>
          <a:lstStyle/>
          <a:p>
            <a:pPr>
              <a:lnSpc>
                <a:spcPct val="110000"/>
              </a:lnSpc>
              <a:spcBef>
                <a:spcPts val="0"/>
              </a:spcBef>
              <a:spcAft>
                <a:spcPts val="0"/>
              </a:spcAft>
              <a:defRPr sz="1400" b="1">
                <a:solidFill>
                  <a:srgbClr val="152840"/>
                </a:solidFill>
                <a:latin typeface="Arial"/>
              </a:defRPr>
            </a:pPr>
            <a:r>
              <a:rPr/>
              <a:t>2.1 Q6</a:t>
            </a:r>
          </a:p>
        </p:txBody>
      </p:sp>
      <p:sp>
        <p:nvSpPr>
          <p:cNvPr id="32" name="TextBox 31"/>
          <p:cNvSpPr txBox="1"/>
          <p:nvPr/>
        </p:nvSpPr>
        <p:spPr>
          <a:xfrm>
            <a:off x="1618488" y="4361688"/>
            <a:ext cx="4032504"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Top 20 largest employee salary increases.</a:t>
            </a:r>
          </a:p>
        </p:txBody>
      </p:sp>
      <p:sp>
        <p:nvSpPr>
          <p:cNvPr id="33" name="TextBox 32"/>
          <p:cNvSpPr txBox="1"/>
          <p:nvPr/>
        </p:nvSpPr>
        <p:spPr>
          <a:xfrm>
            <a:off x="5870448" y="4361688"/>
            <a:ext cx="8101583" cy="301752"/>
          </a:xfrm>
          <a:prstGeom prst="rect">
            <a:avLst/>
          </a:prstGeom>
          <a:noFill/>
        </p:spPr>
        <p:txBody>
          <a:bodyPr wrap="none" lIns="0" rIns="0" tIns="0" bIns="0">
            <a:spAutoFit/>
          </a:bodyPr>
          <a:lstStyle/>
          <a:p>
            <a:pPr>
              <a:lnSpc>
                <a:spcPct val="110000"/>
              </a:lnSpc>
              <a:spcBef>
                <a:spcPts val="0"/>
              </a:spcBef>
              <a:spcAft>
                <a:spcPts val="0"/>
              </a:spcAft>
              <a:defRPr sz="1400" b="0">
                <a:solidFill>
                  <a:srgbClr val="263648"/>
                </a:solidFill>
                <a:latin typeface="Arial"/>
              </a:defRPr>
            </a:pPr>
            <a:r>
              <a:rPr/>
              <a:t>Compared adjacent SCD2 versions; calculated and ranked salary increases.</a:t>
            </a:r>
          </a:p>
        </p:txBody>
      </p:sp>
      <p:sp>
        <p:nvSpPr>
          <p:cNvPr id="34" name="Rectangle 33"/>
          <p:cNvSpPr/>
          <p:nvPr/>
        </p:nvSpPr>
        <p:spPr>
          <a:xfrm>
            <a:off x="548640" y="4901184"/>
            <a:ext cx="896112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974336"/>
            <a:ext cx="8686800" cy="246888"/>
          </a:xfrm>
          <a:prstGeom prst="rect">
            <a:avLst/>
          </a:prstGeom>
          <a:noFill/>
        </p:spPr>
        <p:txBody>
          <a:bodyPr wrap="none" lIns="0" rIns="0" tIns="0" bIns="0">
            <a:spAutoFit/>
          </a:bodyPr>
          <a:lstStyle/>
          <a:p>
            <a:pPr>
              <a:lnSpc>
                <a:spcPct val="110000"/>
              </a:lnSpc>
              <a:spcBef>
                <a:spcPts val="0"/>
              </a:spcBef>
              <a:spcAft>
                <a:spcPts val="0"/>
              </a:spcAft>
              <a:defRPr sz="1400" b="1">
                <a:solidFill>
                  <a:srgbClr val="152840"/>
                </a:solidFill>
                <a:latin typeface="Arial"/>
              </a:defRPr>
            </a:pPr>
            <a:r>
              <a:rPr/>
              <a:t>2.2 | Asked: ingest/enrich 50K transactions and export a timed summary.</a:t>
            </a:r>
          </a:p>
        </p:txBody>
      </p:sp>
      <p:sp>
        <p:nvSpPr>
          <p:cNvPr id="36" name="TextBox 35"/>
          <p:cNvSpPr txBox="1"/>
          <p:nvPr/>
        </p:nvSpPr>
        <p:spPr>
          <a:xfrm>
            <a:off x="685800" y="5257800"/>
            <a:ext cx="8686800" cy="365760"/>
          </a:xfrm>
          <a:prstGeom prst="rect">
            <a:avLst/>
          </a:prstGeom>
          <a:noFill/>
        </p:spPr>
        <p:txBody>
          <a:bodyPr wrap="none" lIns="0" rIns="0" tIns="0" bIns="0">
            <a:spAutoFit/>
          </a:bodyPr>
          <a:lstStyle/>
          <a:p>
            <a:pPr>
              <a:lnSpc>
                <a:spcPct val="110000"/>
              </a:lnSpc>
              <a:spcBef>
                <a:spcPts val="0"/>
              </a:spcBef>
              <a:spcAft>
                <a:spcPts val="0"/>
              </a:spcAft>
              <a:defRPr sz="1300" b="0">
                <a:solidFill>
                  <a:srgbClr val="263648"/>
                </a:solidFill>
                <a:latin typeface="Arial"/>
              </a:defRPr>
            </a:pPr>
            <a:r>
              <a:rPr/>
              <a:t>Flattened JSON, parsed dates, used validated LEFT joins and added project / current approver context, approval flag,</a:t>
            </a:r>
          </a:p>
          <a:p>
            <a:pPr>
              <a:lnSpc>
                <a:spcPct val="110000"/>
              </a:lnSpc>
              <a:spcBef>
                <a:spcPts val="0"/>
              </a:spcBef>
              <a:spcAft>
                <a:spcPts val="0"/>
              </a:spcAft>
              <a:defRPr sz="1300" b="0">
                <a:solidFill>
                  <a:srgbClr val="263648"/>
                </a:solidFill>
                <a:latin typeface="Arial"/>
              </a:defRPr>
            </a:pPr>
            <a:r>
              <a:rPr/>
              <a:t>amount_aed and reporting month.</a:t>
            </a:r>
          </a:p>
        </p:txBody>
      </p:sp>
      <p:sp>
        <p:nvSpPr>
          <p:cNvPr id="37" name="Rectangle 36"/>
          <p:cNvSpPr/>
          <p:nvPr/>
        </p:nvSpPr>
        <p:spPr>
          <a:xfrm>
            <a:off x="548640" y="5760720"/>
            <a:ext cx="896112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833872"/>
            <a:ext cx="8686800" cy="246888"/>
          </a:xfrm>
          <a:prstGeom prst="rect">
            <a:avLst/>
          </a:prstGeom>
          <a:noFill/>
        </p:spPr>
        <p:txBody>
          <a:bodyPr wrap="none" lIns="0" rIns="0" tIns="0" bIns="0">
            <a:spAutoFit/>
          </a:bodyPr>
          <a:lstStyle/>
          <a:p>
            <a:pPr>
              <a:lnSpc>
                <a:spcPct val="110000"/>
              </a:lnSpc>
              <a:spcBef>
                <a:spcPts val="0"/>
              </a:spcBef>
              <a:spcAft>
                <a:spcPts val="0"/>
              </a:spcAft>
              <a:defRPr sz="1400" b="1">
                <a:solidFill>
                  <a:srgbClr val="152840"/>
                </a:solidFill>
                <a:latin typeface="Arial"/>
              </a:defRPr>
            </a:pPr>
            <a:r>
              <a:rPr/>
              <a:t>2.3 | Asked: benchmark, rewrite and index the query.</a:t>
            </a:r>
          </a:p>
        </p:txBody>
      </p:sp>
      <p:sp>
        <p:nvSpPr>
          <p:cNvPr id="39" name="TextBox 38"/>
          <p:cNvSpPr txBox="1"/>
          <p:nvPr/>
        </p:nvSpPr>
        <p:spPr>
          <a:xfrm>
            <a:off x="685800" y="6117336"/>
            <a:ext cx="8686800" cy="365760"/>
          </a:xfrm>
          <a:prstGeom prst="rect">
            <a:avLst/>
          </a:prstGeom>
          <a:noFill/>
        </p:spPr>
        <p:txBody>
          <a:bodyPr wrap="none" lIns="0" rIns="0" tIns="0" bIns="0">
            <a:spAutoFit/>
          </a:bodyPr>
          <a:lstStyle/>
          <a:p>
            <a:pPr>
              <a:lnSpc>
                <a:spcPct val="110000"/>
              </a:lnSpc>
              <a:spcBef>
                <a:spcPts val="0"/>
              </a:spcBef>
              <a:spcAft>
                <a:spcPts val="0"/>
              </a:spcAft>
              <a:defRPr sz="1300" b="0">
                <a:solidFill>
                  <a:srgbClr val="263648"/>
                </a:solidFill>
                <a:latin typeface="Arial"/>
              </a:defRPr>
            </a:pPr>
            <a:r>
              <a:rPr/>
              <a:t>Rewrote joins/filtering, added indexes and verified equivalent result rows. Saved timing evidence: 14.42 ms to 6.14 ms,</a:t>
            </a:r>
          </a:p>
          <a:p>
            <a:pPr>
              <a:lnSpc>
                <a:spcPct val="110000"/>
              </a:lnSpc>
              <a:spcBef>
                <a:spcPts val="0"/>
              </a:spcBef>
              <a:spcAft>
                <a:spcPts val="0"/>
              </a:spcAft>
              <a:defRPr sz="1300" b="0">
                <a:solidFill>
                  <a:srgbClr val="263648"/>
                </a:solidFill>
                <a:latin typeface="Arial"/>
              </a:defRPr>
            </a:pPr>
            <a:r>
              <a:rPr/>
              <a:t>a measured 2.35x speedup.</a:t>
            </a:r>
          </a:p>
        </p:txBody>
      </p:sp>
      <p:sp>
        <p:nvSpPr>
          <p:cNvPr id="40" name="Rectangle 39"/>
          <p:cNvSpPr/>
          <p:nvPr/>
        </p:nvSpPr>
        <p:spPr>
          <a:xfrm>
            <a:off x="548640" y="6620256"/>
            <a:ext cx="896112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6693408"/>
            <a:ext cx="8686800" cy="246888"/>
          </a:xfrm>
          <a:prstGeom prst="rect">
            <a:avLst/>
          </a:prstGeom>
          <a:noFill/>
        </p:spPr>
        <p:txBody>
          <a:bodyPr wrap="none" lIns="0" rIns="0" tIns="0" bIns="0">
            <a:spAutoFit/>
          </a:bodyPr>
          <a:lstStyle/>
          <a:p>
            <a:pPr>
              <a:lnSpc>
                <a:spcPct val="110000"/>
              </a:lnSpc>
              <a:spcBef>
                <a:spcPts val="0"/>
              </a:spcBef>
              <a:spcAft>
                <a:spcPts val="0"/>
              </a:spcAft>
              <a:defRPr sz="1400" b="1">
                <a:solidFill>
                  <a:srgbClr val="152840"/>
                </a:solidFill>
                <a:latin typeface="Arial"/>
              </a:defRPr>
            </a:pPr>
            <a:r>
              <a:rPr/>
              <a:t>2.4 | Asked: an annotated one-page dashboard with six visuals.</a:t>
            </a:r>
          </a:p>
        </p:txBody>
      </p:sp>
      <p:sp>
        <p:nvSpPr>
          <p:cNvPr id="42" name="TextBox 41"/>
          <p:cNvSpPr txBox="1"/>
          <p:nvPr/>
        </p:nvSpPr>
        <p:spPr>
          <a:xfrm>
            <a:off x="685800" y="6976872"/>
            <a:ext cx="8686800" cy="365760"/>
          </a:xfrm>
          <a:prstGeom prst="rect">
            <a:avLst/>
          </a:prstGeom>
          <a:noFill/>
        </p:spPr>
        <p:txBody>
          <a:bodyPr wrap="none" lIns="0" rIns="0" tIns="0" bIns="0">
            <a:spAutoFit/>
          </a:bodyPr>
          <a:lstStyle/>
          <a:p>
            <a:pPr>
              <a:lnSpc>
                <a:spcPct val="110000"/>
              </a:lnSpc>
              <a:spcBef>
                <a:spcPts val="0"/>
              </a:spcBef>
              <a:spcAft>
                <a:spcPts val="0"/>
              </a:spcAft>
              <a:defRPr sz="1300" b="0">
                <a:solidFill>
                  <a:srgbClr val="263648"/>
                </a:solidFill>
                <a:latin typeface="Arial"/>
              </a:defRPr>
            </a:pPr>
            <a:r>
              <a:rPr/>
              <a:t>Generated the PDF with actual KPIs, budget/spend bars, monthly trends, top-project table, vendor donut and slicer</a:t>
            </a:r>
          </a:p>
          <a:p>
            <a:pPr>
              <a:lnSpc>
                <a:spcPct val="110000"/>
              </a:lnSpc>
              <a:spcBef>
                <a:spcPts val="0"/>
              </a:spcBef>
              <a:spcAft>
                <a:spcPts val="0"/>
              </a:spcAft>
              <a:defRPr sz="1300" b="0">
                <a:solidFill>
                  <a:srgbClr val="263648"/>
                </a:solidFill>
                <a:latin typeface="Arial"/>
              </a:defRPr>
            </a:pPr>
            <a:r>
              <a:rPr/>
              <a:t>mockups. The dashboard preview is embedded here.</a:t>
            </a:r>
          </a:p>
        </p:txBody>
      </p:sp>
      <p:sp>
        <p:nvSpPr>
          <p:cNvPr id="43" name="Rectangle 42"/>
          <p:cNvSpPr/>
          <p:nvPr/>
        </p:nvSpPr>
        <p:spPr>
          <a:xfrm>
            <a:off x="9784080" y="4901184"/>
            <a:ext cx="4297680"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66960" y="4983480"/>
            <a:ext cx="3931920" cy="265176"/>
          </a:xfrm>
          <a:prstGeom prst="rect">
            <a:avLst/>
          </a:prstGeom>
          <a:noFill/>
        </p:spPr>
        <p:txBody>
          <a:bodyPr wrap="none" lIns="0" rIns="0" tIns="0" bIns="0">
            <a:spAutoFit/>
          </a:bodyPr>
          <a:lstStyle/>
          <a:p>
            <a:pPr>
              <a:lnSpc>
                <a:spcPct val="110000"/>
              </a:lnSpc>
              <a:spcBef>
                <a:spcPts val="0"/>
              </a:spcBef>
              <a:spcAft>
                <a:spcPts val="0"/>
              </a:spcAft>
              <a:defRPr sz="1400" b="1">
                <a:solidFill>
                  <a:srgbClr val="087F8C"/>
                </a:solidFill>
                <a:latin typeface="Arial"/>
              </a:defRPr>
            </a:pPr>
            <a:r>
              <a:rPr/>
              <a:t>DASHBOARD PDF</a:t>
            </a:r>
          </a:p>
        </p:txBody>
      </p:sp>
      <p:pic>
        <p:nvPicPr>
          <p:cNvPr id="45" name="Picture 44" descr="image.png"/>
          <p:cNvPicPr>
            <a:picLocks noChangeAspect="1"/>
          </p:cNvPicPr>
          <p:nvPr/>
        </p:nvPicPr>
        <p:blipFill>
          <a:blip r:embed="rId3"/>
          <a:stretch>
            <a:fillRect/>
          </a:stretch>
        </p:blipFill>
        <p:spPr>
          <a:xfrm>
            <a:off x="10287000" y="5294376"/>
            <a:ext cx="3291840" cy="2323651"/>
          </a:xfrm>
          <a:prstGeom prst="rect">
            <a:avLst/>
          </a:prstGeom>
        </p:spPr>
      </p:pic>
      <p:sp>
        <p:nvSpPr>
          <p:cNvPr id="46" name="Rectangle 45"/>
          <p:cNvSpPr/>
          <p:nvPr/>
        </p:nvSpPr>
        <p:spPr>
          <a:xfrm>
            <a:off x="9966960" y="7662672"/>
            <a:ext cx="3931920" cy="29260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76688" y="7754112"/>
            <a:ext cx="3712463" cy="164592"/>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Dashboard preview</a:t>
            </a:r>
          </a:p>
        </p:txBody>
      </p:sp>
      <p:sp>
        <p:nvSpPr>
          <p:cNvPr id="48" name="TextBox 47"/>
          <p:cNvSpPr txBox="1"/>
          <p:nvPr/>
        </p:nvSpPr>
        <p:spPr>
          <a:xfrm>
            <a:off x="548640" y="7607808"/>
            <a:ext cx="8961120" cy="274320"/>
          </a:xfrm>
          <a:prstGeom prst="rect">
            <a:avLst/>
          </a:prstGeom>
          <a:noFill/>
        </p:spPr>
        <p:txBody>
          <a:bodyPr wrap="none" lIns="0" rIns="0" tIns="0" bIns="0">
            <a:spAutoFit/>
          </a:bodyPr>
          <a:lstStyle/>
          <a:p>
            <a:pPr>
              <a:lnSpc>
                <a:spcPct val="110000"/>
              </a:lnSpc>
              <a:spcBef>
                <a:spcPts val="0"/>
              </a:spcBef>
              <a:spcAft>
                <a:spcPts val="0"/>
              </a:spcAft>
              <a:defRPr sz="1200" b="0">
                <a:solidFill>
                  <a:srgbClr val="5F7185"/>
                </a:solidFill>
                <a:latin typeface="Arial"/>
              </a:defRPr>
            </a:pPr>
            <a:r>
              <a:rPr/>
              <a:t>Q3 correctly returns no rows: the largest vendor share is about 4.36%, below 5%.</a:t>
            </a:r>
          </a:p>
        </p:txBody>
      </p:sp>
      <p:sp>
        <p:nvSpPr>
          <p:cNvPr id="49" name="TextBox 48"/>
          <p:cNvSpPr txBox="1"/>
          <p:nvPr/>
        </p:nvSpPr>
        <p:spPr>
          <a:xfrm>
            <a:off x="548640" y="8028431"/>
            <a:ext cx="12344400" cy="182880"/>
          </a:xfrm>
          <a:prstGeom prst="rect">
            <a:avLst/>
          </a:prstGeom>
          <a:noFill/>
        </p:spPr>
        <p:txBody>
          <a:bodyPr wrap="none" lIns="0" rIns="0" tIns="0" bIns="0">
            <a:spAutoFit/>
          </a:bodyPr>
          <a:lstStyle/>
          <a:p>
            <a:pPr>
              <a:lnSpc>
                <a:spcPct val="110000"/>
              </a:lnSpc>
              <a:spcBef>
                <a:spcPts val="0"/>
              </a:spcBef>
              <a:spcAft>
                <a:spcPts val="0"/>
              </a:spcAft>
              <a:defRPr sz="1000" b="0">
                <a:solidFill>
                  <a:srgbClr val="5F7185"/>
                </a:solidFill>
                <a:latin typeface="Arial"/>
              </a:defRPr>
            </a:pPr>
            <a:r>
              <a:rPr/>
              <a:t>Deepak Shinghal | Engineering Assessment | 14 October 2026</a:t>
            </a:r>
          </a:p>
        </p:txBody>
      </p:sp>
      <p:sp>
        <p:nvSpPr>
          <p:cNvPr id="50" name="TextBox 49"/>
          <p:cNvSpPr txBox="1"/>
          <p:nvPr/>
        </p:nvSpPr>
        <p:spPr>
          <a:xfrm>
            <a:off x="13624560" y="8028431"/>
            <a:ext cx="457200" cy="182880"/>
          </a:xfrm>
          <a:prstGeom prst="rect">
            <a:avLst/>
          </a:prstGeom>
          <a:noFill/>
        </p:spPr>
        <p:txBody>
          <a:bodyPr wrap="none" lIns="0" rIns="0" tIns="0" bIns="0">
            <a:spAutoFit/>
          </a:bodyPr>
          <a:lstStyle/>
          <a:p>
            <a:pPr>
              <a:lnSpc>
                <a:spcPct val="110000"/>
              </a:lnSpc>
              <a:spcBef>
                <a:spcPts val="0"/>
              </a:spcBef>
              <a:spcAft>
                <a:spcPts val="0"/>
              </a:spcAft>
              <a:defRPr sz="1000" b="0">
                <a:solidFill>
                  <a:srgbClr val="5F7185"/>
                </a:solidFill>
                <a:latin typeface="Arial"/>
              </a:defRPr>
            </a:pPr>
            <a:r>
              <a:rPr/>
              <a:t>03 / 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920240" cy="228600"/>
          </a:xfrm>
          <a:prstGeom prst="rect">
            <a:avLst/>
          </a:prstGeom>
          <a:noFill/>
        </p:spPr>
        <p:txBody>
          <a:bodyPr wrap="none" lIns="0" rIns="0" tIns="0" bIns="0">
            <a:spAutoFit/>
          </a:bodyPr>
          <a:lstStyle/>
          <a:p>
            <a:pPr>
              <a:lnSpc>
                <a:spcPct val="110000"/>
              </a:lnSpc>
              <a:spcBef>
                <a:spcPts val="0"/>
              </a:spcBef>
              <a:spcAft>
                <a:spcPts val="0"/>
              </a:spcAft>
              <a:defRPr sz="1300" b="1">
                <a:solidFill>
                  <a:srgbClr val="087F8C"/>
                </a:solidFill>
                <a:latin typeface="Arial"/>
              </a:defRPr>
            </a:pPr>
            <a:r>
              <a:rPr/>
              <a:t>PILLAR 03</a:t>
            </a:r>
          </a:p>
        </p:txBody>
      </p:sp>
      <p:sp>
        <p:nvSpPr>
          <p:cNvPr id="4" name="TextBox 3"/>
          <p:cNvSpPr txBox="1"/>
          <p:nvPr/>
        </p:nvSpPr>
        <p:spPr>
          <a:xfrm>
            <a:off x="548640" y="676656"/>
            <a:ext cx="13533120" cy="502920"/>
          </a:xfrm>
          <a:prstGeom prst="rect">
            <a:avLst/>
          </a:prstGeom>
          <a:noFill/>
        </p:spPr>
        <p:txBody>
          <a:bodyPr wrap="none" lIns="0" rIns="0" tIns="0" bIns="0">
            <a:spAutoFit/>
          </a:bodyPr>
          <a:lstStyle/>
          <a:p>
            <a:pPr>
              <a:lnSpc>
                <a:spcPct val="110000"/>
              </a:lnSpc>
              <a:spcBef>
                <a:spcPts val="0"/>
              </a:spcBef>
              <a:spcAft>
                <a:spcPts val="0"/>
              </a:spcAft>
              <a:defRPr sz="3000" b="1">
                <a:solidFill>
                  <a:srgbClr val="152840"/>
                </a:solidFill>
                <a:latin typeface="Arial"/>
              </a:defRPr>
            </a:pPr>
            <a:r>
              <a:rPr/>
              <a:t>Big Data Processing</a:t>
            </a:r>
          </a:p>
        </p:txBody>
      </p:sp>
      <p:sp>
        <p:nvSpPr>
          <p:cNvPr id="5" name="TextBox 4"/>
          <p:cNvSpPr txBox="1"/>
          <p:nvPr/>
        </p:nvSpPr>
        <p:spPr>
          <a:xfrm>
            <a:off x="548640" y="1225296"/>
            <a:ext cx="13533120" cy="274320"/>
          </a:xfrm>
          <a:prstGeom prst="rect">
            <a:avLst/>
          </a:prstGeom>
          <a:noFill/>
        </p:spPr>
        <p:txBody>
          <a:bodyPr wrap="none" lIns="0" rIns="0" tIns="0" bIns="0">
            <a:spAutoFit/>
          </a:bodyPr>
          <a:lstStyle/>
          <a:p>
            <a:pPr>
              <a:lnSpc>
                <a:spcPct val="110000"/>
              </a:lnSpc>
              <a:spcBef>
                <a:spcPts val="0"/>
              </a:spcBef>
              <a:spcAft>
                <a:spcPts val="0"/>
              </a:spcAft>
              <a:defRPr sz="1500" b="0">
                <a:solidFill>
                  <a:srgbClr val="5F7185"/>
                </a:solidFill>
                <a:latin typeface="Arial"/>
              </a:defRPr>
            </a:pPr>
            <a:r>
              <a:rPr/>
              <a:t>Task 3.3 | Airflow schedules the ETL and controls the order of work.</a:t>
            </a:r>
          </a:p>
        </p:txBody>
      </p:sp>
      <p:pic>
        <p:nvPicPr>
          <p:cNvPr id="6" name="Picture 5" descr="airflow_dag_screenshot.png"/>
          <p:cNvPicPr>
            <a:picLocks noChangeAspect="1"/>
          </p:cNvPicPr>
          <p:nvPr/>
        </p:nvPicPr>
        <p:blipFill>
          <a:blip r:embed="rId3"/>
          <a:stretch>
            <a:fillRect/>
          </a:stretch>
        </p:blipFill>
        <p:spPr>
          <a:xfrm>
            <a:off x="548640" y="1746504"/>
            <a:ext cx="9144000" cy="5141154"/>
          </a:xfrm>
          <a:prstGeom prst="rect">
            <a:avLst/>
          </a:prstGeom>
        </p:spPr>
      </p:pic>
      <p:sp>
        <p:nvSpPr>
          <p:cNvPr id="7" name="Rectangle 6"/>
          <p:cNvSpPr/>
          <p:nvPr/>
        </p:nvSpPr>
        <p:spPr>
          <a:xfrm>
            <a:off x="9966960" y="1746504"/>
            <a:ext cx="4114800" cy="514115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0" y="1920240"/>
            <a:ext cx="3749039" cy="320040"/>
          </a:xfrm>
          <a:prstGeom prst="rect">
            <a:avLst/>
          </a:prstGeom>
          <a:noFill/>
        </p:spPr>
        <p:txBody>
          <a:bodyPr wrap="none" lIns="0" rIns="0" tIns="0" bIns="0">
            <a:spAutoFit/>
          </a:bodyPr>
          <a:lstStyle/>
          <a:p>
            <a:pPr>
              <a:lnSpc>
                <a:spcPct val="110000"/>
              </a:lnSpc>
              <a:spcBef>
                <a:spcPts val="0"/>
              </a:spcBef>
              <a:spcAft>
                <a:spcPts val="0"/>
              </a:spcAft>
              <a:defRPr sz="1500" b="1">
                <a:solidFill>
                  <a:srgbClr val="087F8C"/>
                </a:solidFill>
                <a:latin typeface="Arial"/>
              </a:defRPr>
            </a:pPr>
            <a:r>
              <a:rPr/>
              <a:t>WHAT THE WORKFLOW DOES</a:t>
            </a:r>
          </a:p>
        </p:txBody>
      </p:sp>
      <p:sp>
        <p:nvSpPr>
          <p:cNvPr id="9" name="TextBox 8"/>
          <p:cNvSpPr txBox="1"/>
          <p:nvPr/>
        </p:nvSpPr>
        <p:spPr>
          <a:xfrm>
            <a:off x="10149840" y="2395728"/>
            <a:ext cx="3749039" cy="292608"/>
          </a:xfrm>
          <a:prstGeom prst="rect">
            <a:avLst/>
          </a:prstGeom>
          <a:noFill/>
        </p:spPr>
        <p:txBody>
          <a:bodyPr wrap="none" lIns="0" rIns="0" tIns="0" bIns="0">
            <a:spAutoFit/>
          </a:bodyPr>
          <a:lstStyle/>
          <a:p>
            <a:pPr>
              <a:lnSpc>
                <a:spcPct val="110000"/>
              </a:lnSpc>
              <a:spcBef>
                <a:spcPts val="0"/>
              </a:spcBef>
              <a:spcAft>
                <a:spcPts val="0"/>
              </a:spcAft>
              <a:defRPr sz="1700" b="1">
                <a:solidFill>
                  <a:srgbClr val="152840"/>
                </a:solidFill>
                <a:latin typeface="Arial"/>
              </a:defRPr>
            </a:pPr>
            <a:r>
              <a:rPr/>
              <a:t>1. Parallel extraction</a:t>
            </a:r>
          </a:p>
        </p:txBody>
      </p:sp>
      <p:sp>
        <p:nvSpPr>
          <p:cNvPr id="10" name="TextBox 9"/>
          <p:cNvSpPr txBox="1"/>
          <p:nvPr/>
        </p:nvSpPr>
        <p:spPr>
          <a:xfrm>
            <a:off x="10149840" y="2724912"/>
            <a:ext cx="3749039" cy="475488"/>
          </a:xfrm>
          <a:prstGeom prst="rect">
            <a:avLst/>
          </a:prstGeom>
          <a:noFill/>
        </p:spPr>
        <p:txBody>
          <a:bodyPr wrap="none" lIns="0" rIns="0" tIns="0" bIns="0">
            <a:spAutoFit/>
          </a:bodyPr>
          <a:lstStyle/>
          <a:p>
            <a:pPr>
              <a:lnSpc>
                <a:spcPct val="110000"/>
              </a:lnSpc>
              <a:spcBef>
                <a:spcPts val="0"/>
              </a:spcBef>
              <a:spcAft>
                <a:spcPts val="0"/>
              </a:spcAft>
              <a:defRPr sz="1450" b="0">
                <a:solidFill>
                  <a:srgbClr val="263648"/>
                </a:solidFill>
                <a:latin typeface="Arial"/>
              </a:defRPr>
            </a:pPr>
            <a:r>
              <a:rPr/>
              <a:t>Projects, employees and transactions are</a:t>
            </a:r>
          </a:p>
          <a:p>
            <a:pPr>
              <a:lnSpc>
                <a:spcPct val="110000"/>
              </a:lnSpc>
              <a:spcBef>
                <a:spcPts val="0"/>
              </a:spcBef>
              <a:spcAft>
                <a:spcPts val="0"/>
              </a:spcAft>
              <a:defRPr sz="1450" b="0">
                <a:solidFill>
                  <a:srgbClr val="263648"/>
                </a:solidFill>
                <a:latin typeface="Arial"/>
              </a:defRPr>
            </a:pPr>
            <a:r>
              <a:rPr/>
              <a:t>read independently.</a:t>
            </a:r>
          </a:p>
        </p:txBody>
      </p:sp>
      <p:sp>
        <p:nvSpPr>
          <p:cNvPr id="11" name="TextBox 10"/>
          <p:cNvSpPr txBox="1"/>
          <p:nvPr/>
        </p:nvSpPr>
        <p:spPr>
          <a:xfrm>
            <a:off x="10149840" y="3227832"/>
            <a:ext cx="3749039" cy="292608"/>
          </a:xfrm>
          <a:prstGeom prst="rect">
            <a:avLst/>
          </a:prstGeom>
          <a:noFill/>
        </p:spPr>
        <p:txBody>
          <a:bodyPr wrap="none" lIns="0" rIns="0" tIns="0" bIns="0">
            <a:spAutoFit/>
          </a:bodyPr>
          <a:lstStyle/>
          <a:p>
            <a:pPr>
              <a:lnSpc>
                <a:spcPct val="110000"/>
              </a:lnSpc>
              <a:spcBef>
                <a:spcPts val="0"/>
              </a:spcBef>
              <a:spcAft>
                <a:spcPts val="0"/>
              </a:spcAft>
              <a:defRPr sz="1700" b="1">
                <a:solidFill>
                  <a:srgbClr val="152840"/>
                </a:solidFill>
                <a:latin typeface="Arial"/>
              </a:defRPr>
            </a:pPr>
            <a:r>
              <a:rPr/>
              <a:t>2. Quality gate</a:t>
            </a:r>
          </a:p>
        </p:txBody>
      </p:sp>
      <p:sp>
        <p:nvSpPr>
          <p:cNvPr id="12" name="TextBox 11"/>
          <p:cNvSpPr txBox="1"/>
          <p:nvPr/>
        </p:nvSpPr>
        <p:spPr>
          <a:xfrm>
            <a:off x="10149840" y="3557016"/>
            <a:ext cx="3749039" cy="475488"/>
          </a:xfrm>
          <a:prstGeom prst="rect">
            <a:avLst/>
          </a:prstGeom>
          <a:noFill/>
        </p:spPr>
        <p:txBody>
          <a:bodyPr wrap="none" lIns="0" rIns="0" tIns="0" bIns="0">
            <a:spAutoFit/>
          </a:bodyPr>
          <a:lstStyle/>
          <a:p>
            <a:pPr>
              <a:lnSpc>
                <a:spcPct val="110000"/>
              </a:lnSpc>
              <a:spcBef>
                <a:spcPts val="0"/>
              </a:spcBef>
              <a:spcAft>
                <a:spcPts val="0"/>
              </a:spcAft>
              <a:defRPr sz="1450" b="0">
                <a:solidFill>
                  <a:srgbClr val="263648"/>
                </a:solidFill>
                <a:latin typeface="Arial"/>
              </a:defRPr>
            </a:pPr>
            <a:r>
              <a:rPr/>
              <a:t>Checks keys and references; completeness</a:t>
            </a:r>
          </a:p>
          <a:p>
            <a:pPr>
              <a:lnSpc>
                <a:spcPct val="110000"/>
              </a:lnSpc>
              <a:spcBef>
                <a:spcPts val="0"/>
              </a:spcBef>
              <a:spcAft>
                <a:spcPts val="0"/>
              </a:spcAft>
              <a:defRPr sz="1450" b="0">
                <a:solidFill>
                  <a:srgbClr val="263648"/>
                </a:solidFill>
                <a:latin typeface="Arial"/>
              </a:defRPr>
            </a:pPr>
            <a:r>
              <a:rPr/>
              <a:t>below 80% fails the gate.</a:t>
            </a:r>
          </a:p>
        </p:txBody>
      </p:sp>
      <p:sp>
        <p:nvSpPr>
          <p:cNvPr id="13" name="TextBox 12"/>
          <p:cNvSpPr txBox="1"/>
          <p:nvPr/>
        </p:nvSpPr>
        <p:spPr>
          <a:xfrm>
            <a:off x="10149840" y="4059936"/>
            <a:ext cx="3749039" cy="292608"/>
          </a:xfrm>
          <a:prstGeom prst="rect">
            <a:avLst/>
          </a:prstGeom>
          <a:noFill/>
        </p:spPr>
        <p:txBody>
          <a:bodyPr wrap="none" lIns="0" rIns="0" tIns="0" bIns="0">
            <a:spAutoFit/>
          </a:bodyPr>
          <a:lstStyle/>
          <a:p>
            <a:pPr>
              <a:lnSpc>
                <a:spcPct val="110000"/>
              </a:lnSpc>
              <a:spcBef>
                <a:spcPts val="0"/>
              </a:spcBef>
              <a:spcAft>
                <a:spcPts val="0"/>
              </a:spcAft>
              <a:defRPr sz="1700" b="1">
                <a:solidFill>
                  <a:srgbClr val="152840"/>
                </a:solidFill>
                <a:latin typeface="Arial"/>
              </a:defRPr>
            </a:pPr>
            <a:r>
              <a:rPr/>
              <a:t>3. Transform and enrich</a:t>
            </a:r>
          </a:p>
        </p:txBody>
      </p:sp>
      <p:sp>
        <p:nvSpPr>
          <p:cNvPr id="14" name="TextBox 13"/>
          <p:cNvSpPr txBox="1"/>
          <p:nvPr/>
        </p:nvSpPr>
        <p:spPr>
          <a:xfrm>
            <a:off x="10149840" y="4389120"/>
            <a:ext cx="3749039" cy="475488"/>
          </a:xfrm>
          <a:prstGeom prst="rect">
            <a:avLst/>
          </a:prstGeom>
          <a:noFill/>
        </p:spPr>
        <p:txBody>
          <a:bodyPr wrap="none" lIns="0" rIns="0" tIns="0" bIns="0">
            <a:spAutoFit/>
          </a:bodyPr>
          <a:lstStyle/>
          <a:p>
            <a:pPr>
              <a:lnSpc>
                <a:spcPct val="110000"/>
              </a:lnSpc>
              <a:spcBef>
                <a:spcPts val="0"/>
              </a:spcBef>
              <a:spcAft>
                <a:spcPts val="0"/>
              </a:spcAft>
              <a:defRPr sz="1450" b="0">
                <a:solidFill>
                  <a:srgbClr val="263648"/>
                </a:solidFill>
                <a:latin typeface="Arial"/>
              </a:defRPr>
            </a:pPr>
            <a:r>
              <a:rPr/>
              <a:t>Cleans source data and adds project /</a:t>
            </a:r>
          </a:p>
          <a:p>
            <a:pPr>
              <a:lnSpc>
                <a:spcPct val="110000"/>
              </a:lnSpc>
              <a:spcBef>
                <a:spcPts val="0"/>
              </a:spcBef>
              <a:spcAft>
                <a:spcPts val="0"/>
              </a:spcAft>
              <a:defRPr sz="1450" b="0">
                <a:solidFill>
                  <a:srgbClr val="263648"/>
                </a:solidFill>
                <a:latin typeface="Arial"/>
              </a:defRPr>
            </a:pPr>
            <a:r>
              <a:rPr/>
              <a:t>approver context.</a:t>
            </a:r>
          </a:p>
        </p:txBody>
      </p:sp>
      <p:sp>
        <p:nvSpPr>
          <p:cNvPr id="15" name="TextBox 14"/>
          <p:cNvSpPr txBox="1"/>
          <p:nvPr/>
        </p:nvSpPr>
        <p:spPr>
          <a:xfrm>
            <a:off x="10149840" y="4892040"/>
            <a:ext cx="3749039" cy="292608"/>
          </a:xfrm>
          <a:prstGeom prst="rect">
            <a:avLst/>
          </a:prstGeom>
          <a:noFill/>
        </p:spPr>
        <p:txBody>
          <a:bodyPr wrap="none" lIns="0" rIns="0" tIns="0" bIns="0">
            <a:spAutoFit/>
          </a:bodyPr>
          <a:lstStyle/>
          <a:p>
            <a:pPr>
              <a:lnSpc>
                <a:spcPct val="110000"/>
              </a:lnSpc>
              <a:spcBef>
                <a:spcPts val="0"/>
              </a:spcBef>
              <a:spcAft>
                <a:spcPts val="0"/>
              </a:spcAft>
              <a:defRPr sz="1700" b="1">
                <a:solidFill>
                  <a:srgbClr val="152840"/>
                </a:solidFill>
                <a:latin typeface="Arial"/>
              </a:defRPr>
            </a:pPr>
            <a:r>
              <a:rPr/>
              <a:t>4. Load outputs</a:t>
            </a:r>
          </a:p>
        </p:txBody>
      </p:sp>
      <p:sp>
        <p:nvSpPr>
          <p:cNvPr id="16" name="TextBox 15"/>
          <p:cNvSpPr txBox="1"/>
          <p:nvPr/>
        </p:nvSpPr>
        <p:spPr>
          <a:xfrm>
            <a:off x="10149840" y="5221224"/>
            <a:ext cx="3749039" cy="475488"/>
          </a:xfrm>
          <a:prstGeom prst="rect">
            <a:avLst/>
          </a:prstGeom>
          <a:noFill/>
        </p:spPr>
        <p:txBody>
          <a:bodyPr wrap="none" lIns="0" rIns="0" tIns="0" bIns="0">
            <a:spAutoFit/>
          </a:bodyPr>
          <a:lstStyle/>
          <a:p>
            <a:pPr>
              <a:lnSpc>
                <a:spcPct val="110000"/>
              </a:lnSpc>
              <a:spcBef>
                <a:spcPts val="0"/>
              </a:spcBef>
              <a:spcAft>
                <a:spcPts val="0"/>
              </a:spcAft>
              <a:defRPr sz="1450" b="0">
                <a:solidFill>
                  <a:srgbClr val="263648"/>
                </a:solidFill>
                <a:latin typeface="Arial"/>
              </a:defRPr>
            </a:pPr>
            <a:r>
              <a:rPr/>
              <a:t>Writes cleaned CSV files to the shared output</a:t>
            </a:r>
          </a:p>
          <a:p>
            <a:pPr>
              <a:lnSpc>
                <a:spcPct val="110000"/>
              </a:lnSpc>
              <a:spcBef>
                <a:spcPts val="0"/>
              </a:spcBef>
              <a:spcAft>
                <a:spcPts val="0"/>
              </a:spcAft>
              <a:defRPr sz="1450" b="0">
                <a:solidFill>
                  <a:srgbClr val="263648"/>
                </a:solidFill>
                <a:latin typeface="Arial"/>
              </a:defRPr>
            </a:pPr>
            <a:r>
              <a:rPr/>
              <a:t>folder.</a:t>
            </a:r>
          </a:p>
        </p:txBody>
      </p:sp>
      <p:sp>
        <p:nvSpPr>
          <p:cNvPr id="17" name="TextBox 16"/>
          <p:cNvSpPr txBox="1"/>
          <p:nvPr/>
        </p:nvSpPr>
        <p:spPr>
          <a:xfrm>
            <a:off x="10149840" y="5724144"/>
            <a:ext cx="3749039" cy="292608"/>
          </a:xfrm>
          <a:prstGeom prst="rect">
            <a:avLst/>
          </a:prstGeom>
          <a:noFill/>
        </p:spPr>
        <p:txBody>
          <a:bodyPr wrap="none" lIns="0" rIns="0" tIns="0" bIns="0">
            <a:spAutoFit/>
          </a:bodyPr>
          <a:lstStyle/>
          <a:p>
            <a:pPr>
              <a:lnSpc>
                <a:spcPct val="110000"/>
              </a:lnSpc>
              <a:spcBef>
                <a:spcPts val="0"/>
              </a:spcBef>
              <a:spcAft>
                <a:spcPts val="0"/>
              </a:spcAft>
              <a:defRPr sz="1700" b="1">
                <a:solidFill>
                  <a:srgbClr val="152840"/>
                </a:solidFill>
                <a:latin typeface="Arial"/>
              </a:defRPr>
            </a:pPr>
            <a:r>
              <a:rPr/>
              <a:t>5. Generate report</a:t>
            </a:r>
          </a:p>
        </p:txBody>
      </p:sp>
      <p:sp>
        <p:nvSpPr>
          <p:cNvPr id="18" name="TextBox 17"/>
          <p:cNvSpPr txBox="1"/>
          <p:nvPr/>
        </p:nvSpPr>
        <p:spPr>
          <a:xfrm>
            <a:off x="10149840" y="6053328"/>
            <a:ext cx="3749039" cy="475488"/>
          </a:xfrm>
          <a:prstGeom prst="rect">
            <a:avLst/>
          </a:prstGeom>
          <a:noFill/>
        </p:spPr>
        <p:txBody>
          <a:bodyPr wrap="none" lIns="0" rIns="0" tIns="0" bIns="0">
            <a:spAutoFit/>
          </a:bodyPr>
          <a:lstStyle/>
          <a:p>
            <a:pPr>
              <a:lnSpc>
                <a:spcPct val="110000"/>
              </a:lnSpc>
              <a:spcBef>
                <a:spcPts val="0"/>
              </a:spcBef>
              <a:spcAft>
                <a:spcPts val="0"/>
              </a:spcAft>
              <a:defRPr sz="1450" b="0">
                <a:solidFill>
                  <a:srgbClr val="263648"/>
                </a:solidFill>
                <a:latin typeface="Arial"/>
              </a:defRPr>
            </a:pPr>
            <a:r>
              <a:rPr/>
              <a:t>Uses XCom counts, quality results and paths</a:t>
            </a:r>
          </a:p>
          <a:p>
            <a:pPr>
              <a:lnSpc>
                <a:spcPct val="110000"/>
              </a:lnSpc>
              <a:spcBef>
                <a:spcPts val="0"/>
              </a:spcBef>
              <a:spcAft>
                <a:spcPts val="0"/>
              </a:spcAft>
              <a:defRPr sz="1450" b="0">
                <a:solidFill>
                  <a:srgbClr val="263648"/>
                </a:solidFill>
                <a:latin typeface="Arial"/>
              </a:defRPr>
            </a:pPr>
            <a:r>
              <a:rPr/>
              <a:t>to write the run report.</a:t>
            </a:r>
          </a:p>
        </p:txBody>
      </p:sp>
      <p:sp>
        <p:nvSpPr>
          <p:cNvPr id="19" name="TextBox 18"/>
          <p:cNvSpPr txBox="1"/>
          <p:nvPr/>
        </p:nvSpPr>
        <p:spPr>
          <a:xfrm>
            <a:off x="548640" y="7013448"/>
            <a:ext cx="13533120" cy="283464"/>
          </a:xfrm>
          <a:prstGeom prst="rect">
            <a:avLst/>
          </a:prstGeom>
          <a:noFill/>
        </p:spPr>
        <p:txBody>
          <a:bodyPr wrap="none" lIns="0" rIns="0" tIns="0" bIns="0">
            <a:spAutoFit/>
          </a:bodyPr>
          <a:lstStyle/>
          <a:p>
            <a:pPr>
              <a:lnSpc>
                <a:spcPct val="110000"/>
              </a:lnSpc>
              <a:spcBef>
                <a:spcPts val="0"/>
              </a:spcBef>
              <a:spcAft>
                <a:spcPts val="0"/>
              </a:spcAft>
              <a:defRPr sz="1400" b="1">
                <a:solidFill>
                  <a:srgbClr val="087F8C"/>
                </a:solidFill>
                <a:latin typeface="Arial"/>
              </a:defRPr>
            </a:pPr>
            <a:r>
              <a:rPr/>
              <a:t>Green status cells show two successful runs. Schedule: daily at 06:00 Dubai time.</a:t>
            </a:r>
          </a:p>
        </p:txBody>
      </p:sp>
      <p:sp>
        <p:nvSpPr>
          <p:cNvPr id="20" name="TextBox 19"/>
          <p:cNvSpPr txBox="1"/>
          <p:nvPr/>
        </p:nvSpPr>
        <p:spPr>
          <a:xfrm>
            <a:off x="548640" y="7388352"/>
            <a:ext cx="13533120" cy="256032"/>
          </a:xfrm>
          <a:prstGeom prst="rect">
            <a:avLst/>
          </a:prstGeom>
          <a:noFill/>
        </p:spPr>
        <p:txBody>
          <a:bodyPr wrap="none" lIns="0" rIns="0" tIns="0" bIns="0">
            <a:spAutoFit/>
          </a:bodyPr>
          <a:lstStyle/>
          <a:p>
            <a:pPr>
              <a:lnSpc>
                <a:spcPct val="110000"/>
              </a:lnSpc>
              <a:spcBef>
                <a:spcPts val="0"/>
              </a:spcBef>
              <a:spcAft>
                <a:spcPts val="0"/>
              </a:spcAft>
              <a:defRPr sz="1300" b="0">
                <a:solidFill>
                  <a:srgbClr val="5F7185"/>
                </a:solidFill>
                <a:latin typeface="Arial"/>
              </a:defRPr>
            </a:pPr>
            <a:r>
              <a:rPr/>
              <a:t>3.1 Spark: five Parquet summaries from 99,996 events across 12 monthly files.</a:t>
            </a:r>
          </a:p>
        </p:txBody>
      </p:sp>
      <p:sp>
        <p:nvSpPr>
          <p:cNvPr id="21" name="TextBox 20"/>
          <p:cNvSpPr txBox="1"/>
          <p:nvPr/>
        </p:nvSpPr>
        <p:spPr>
          <a:xfrm>
            <a:off x="548640" y="7690104"/>
            <a:ext cx="13533120" cy="256032"/>
          </a:xfrm>
          <a:prstGeom prst="rect">
            <a:avLst/>
          </a:prstGeom>
          <a:noFill/>
        </p:spPr>
        <p:txBody>
          <a:bodyPr wrap="none" lIns="0" rIns="0" tIns="0" bIns="0">
            <a:spAutoFit/>
          </a:bodyPr>
          <a:lstStyle/>
          <a:p>
            <a:pPr>
              <a:lnSpc>
                <a:spcPct val="110000"/>
              </a:lnSpc>
              <a:spcBef>
                <a:spcPts val="0"/>
              </a:spcBef>
              <a:spcAft>
                <a:spcPts val="0"/>
              </a:spcAft>
              <a:defRPr sz="1300" b="0">
                <a:solidFill>
                  <a:srgbClr val="5F7185"/>
                </a:solidFill>
                <a:latin typeface="Arial"/>
              </a:defRPr>
            </a:pPr>
            <a:r>
              <a:rPr/>
              <a:t>3.2 Kafka: 8,333 January events consumed; 14 Critical escalations forwarded; JSON summary saved.</a:t>
            </a:r>
          </a:p>
        </p:txBody>
      </p:sp>
      <p:sp>
        <p:nvSpPr>
          <p:cNvPr id="22" name="TextBox 21"/>
          <p:cNvSpPr txBox="1"/>
          <p:nvPr/>
        </p:nvSpPr>
        <p:spPr>
          <a:xfrm>
            <a:off x="548640" y="8028431"/>
            <a:ext cx="12344400" cy="182880"/>
          </a:xfrm>
          <a:prstGeom prst="rect">
            <a:avLst/>
          </a:prstGeom>
          <a:noFill/>
        </p:spPr>
        <p:txBody>
          <a:bodyPr wrap="none" lIns="0" rIns="0" tIns="0" bIns="0">
            <a:spAutoFit/>
          </a:bodyPr>
          <a:lstStyle/>
          <a:p>
            <a:pPr>
              <a:lnSpc>
                <a:spcPct val="110000"/>
              </a:lnSpc>
              <a:spcBef>
                <a:spcPts val="0"/>
              </a:spcBef>
              <a:spcAft>
                <a:spcPts val="0"/>
              </a:spcAft>
              <a:defRPr sz="1000" b="0">
                <a:solidFill>
                  <a:srgbClr val="5F7185"/>
                </a:solidFill>
                <a:latin typeface="Arial"/>
              </a:defRPr>
            </a:pPr>
            <a:r>
              <a:rPr/>
              <a:t>Deepak Shinghal | Engineering Assessment | 14 October 2026</a:t>
            </a:r>
          </a:p>
        </p:txBody>
      </p:sp>
      <p:sp>
        <p:nvSpPr>
          <p:cNvPr id="23" name="TextBox 22"/>
          <p:cNvSpPr txBox="1"/>
          <p:nvPr/>
        </p:nvSpPr>
        <p:spPr>
          <a:xfrm>
            <a:off x="13624560" y="8028431"/>
            <a:ext cx="457200" cy="182880"/>
          </a:xfrm>
          <a:prstGeom prst="rect">
            <a:avLst/>
          </a:prstGeom>
          <a:noFill/>
        </p:spPr>
        <p:txBody>
          <a:bodyPr wrap="none" lIns="0" rIns="0" tIns="0" bIns="0">
            <a:spAutoFit/>
          </a:bodyPr>
          <a:lstStyle/>
          <a:p>
            <a:pPr>
              <a:lnSpc>
                <a:spcPct val="110000"/>
              </a:lnSpc>
              <a:spcBef>
                <a:spcPts val="0"/>
              </a:spcBef>
              <a:spcAft>
                <a:spcPts val="0"/>
              </a:spcAft>
              <a:defRPr sz="1000" b="0">
                <a:solidFill>
                  <a:srgbClr val="5F7185"/>
                </a:solidFill>
                <a:latin typeface="Arial"/>
              </a:defRPr>
            </a:pPr>
            <a:r>
              <a:rPr/>
              <a:t>04 /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920240" cy="228600"/>
          </a:xfrm>
          <a:prstGeom prst="rect">
            <a:avLst/>
          </a:prstGeom>
          <a:noFill/>
        </p:spPr>
        <p:txBody>
          <a:bodyPr wrap="none" lIns="0" rIns="0" tIns="0" bIns="0">
            <a:spAutoFit/>
          </a:bodyPr>
          <a:lstStyle/>
          <a:p>
            <a:pPr>
              <a:lnSpc>
                <a:spcPct val="110000"/>
              </a:lnSpc>
              <a:spcBef>
                <a:spcPts val="0"/>
              </a:spcBef>
              <a:spcAft>
                <a:spcPts val="0"/>
              </a:spcAft>
              <a:defRPr sz="1300" b="1">
                <a:solidFill>
                  <a:srgbClr val="087F8C"/>
                </a:solidFill>
                <a:latin typeface="Arial"/>
              </a:defRPr>
            </a:pPr>
            <a:r>
              <a:rPr/>
              <a:t>PILLAR 04</a:t>
            </a:r>
          </a:p>
        </p:txBody>
      </p:sp>
      <p:sp>
        <p:nvSpPr>
          <p:cNvPr id="4" name="TextBox 3"/>
          <p:cNvSpPr txBox="1"/>
          <p:nvPr/>
        </p:nvSpPr>
        <p:spPr>
          <a:xfrm>
            <a:off x="548640" y="676656"/>
            <a:ext cx="13533120" cy="502920"/>
          </a:xfrm>
          <a:prstGeom prst="rect">
            <a:avLst/>
          </a:prstGeom>
          <a:noFill/>
        </p:spPr>
        <p:txBody>
          <a:bodyPr wrap="none" lIns="0" rIns="0" tIns="0" bIns="0">
            <a:spAutoFit/>
          </a:bodyPr>
          <a:lstStyle/>
          <a:p>
            <a:pPr>
              <a:lnSpc>
                <a:spcPct val="110000"/>
              </a:lnSpc>
              <a:spcBef>
                <a:spcPts val="0"/>
              </a:spcBef>
              <a:spcAft>
                <a:spcPts val="0"/>
              </a:spcAft>
              <a:defRPr sz="3000" b="1">
                <a:solidFill>
                  <a:srgbClr val="152840"/>
                </a:solidFill>
                <a:latin typeface="Arial"/>
              </a:defRPr>
            </a:pPr>
            <a:r>
              <a:rPr/>
              <a:t>Infrastructure &amp; Governance</a:t>
            </a:r>
          </a:p>
        </p:txBody>
      </p:sp>
      <p:sp>
        <p:nvSpPr>
          <p:cNvPr id="5" name="TextBox 4"/>
          <p:cNvSpPr txBox="1"/>
          <p:nvPr/>
        </p:nvSpPr>
        <p:spPr>
          <a:xfrm>
            <a:off x="548640" y="1225296"/>
            <a:ext cx="13533120" cy="274320"/>
          </a:xfrm>
          <a:prstGeom prst="rect">
            <a:avLst/>
          </a:prstGeom>
          <a:noFill/>
        </p:spPr>
        <p:txBody>
          <a:bodyPr wrap="none" lIns="0" rIns="0" tIns="0" bIns="0">
            <a:spAutoFit/>
          </a:bodyPr>
          <a:lstStyle/>
          <a:p>
            <a:pPr>
              <a:lnSpc>
                <a:spcPct val="110000"/>
              </a:lnSpc>
              <a:spcBef>
                <a:spcPts val="0"/>
              </a:spcBef>
              <a:spcAft>
                <a:spcPts val="0"/>
              </a:spcAft>
              <a:defRPr sz="1500" b="0">
                <a:solidFill>
                  <a:srgbClr val="5F7185"/>
                </a:solidFill>
                <a:latin typeface="Arial"/>
              </a:defRPr>
            </a:pPr>
            <a:r>
              <a:rPr/>
              <a:t>Package the ETL, document data controls and make quality checks configurable.</a:t>
            </a:r>
          </a:p>
        </p:txBody>
      </p:sp>
      <p:sp>
        <p:nvSpPr>
          <p:cNvPr id="6" name="Rectangle 5"/>
          <p:cNvSpPr/>
          <p:nvPr/>
        </p:nvSpPr>
        <p:spPr>
          <a:xfrm>
            <a:off x="548640" y="1755648"/>
            <a:ext cx="13533120" cy="393192"/>
          </a:xfrm>
          <a:prstGeom prst="rect">
            <a:avLst/>
          </a:prstGeom>
          <a:solidFill>
            <a:srgbClr val="15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47088"/>
            <a:ext cx="740664" cy="228600"/>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TASK</a:t>
            </a:r>
          </a:p>
        </p:txBody>
      </p:sp>
      <p:sp>
        <p:nvSpPr>
          <p:cNvPr id="8" name="TextBox 7"/>
          <p:cNvSpPr txBox="1"/>
          <p:nvPr/>
        </p:nvSpPr>
        <p:spPr>
          <a:xfrm>
            <a:off x="1618488" y="1847088"/>
            <a:ext cx="4032504" cy="228600"/>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QUESTION ASKED</a:t>
            </a:r>
          </a:p>
        </p:txBody>
      </p:sp>
      <p:sp>
        <p:nvSpPr>
          <p:cNvPr id="9" name="TextBox 8"/>
          <p:cNvSpPr txBox="1"/>
          <p:nvPr/>
        </p:nvSpPr>
        <p:spPr>
          <a:xfrm>
            <a:off x="5870448" y="1847088"/>
            <a:ext cx="8101583" cy="228600"/>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WHAT I DID</a:t>
            </a:r>
          </a:p>
        </p:txBody>
      </p:sp>
      <p:sp>
        <p:nvSpPr>
          <p:cNvPr id="10" name="Rectangle 9"/>
          <p:cNvSpPr/>
          <p:nvPr/>
        </p:nvSpPr>
        <p:spPr>
          <a:xfrm>
            <a:off x="548640" y="2148840"/>
            <a:ext cx="1353312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286000"/>
            <a:ext cx="740664" cy="960120"/>
          </a:xfrm>
          <a:prstGeom prst="rect">
            <a:avLst/>
          </a:prstGeom>
          <a:noFill/>
        </p:spPr>
        <p:txBody>
          <a:bodyPr wrap="none" lIns="0" rIns="0" tIns="0" bIns="0">
            <a:spAutoFit/>
          </a:bodyPr>
          <a:lstStyle/>
          <a:p>
            <a:pPr>
              <a:lnSpc>
                <a:spcPct val="110000"/>
              </a:lnSpc>
              <a:spcBef>
                <a:spcPts val="0"/>
              </a:spcBef>
              <a:spcAft>
                <a:spcPts val="0"/>
              </a:spcAft>
              <a:defRPr sz="1800" b="1">
                <a:solidFill>
                  <a:srgbClr val="152840"/>
                </a:solidFill>
                <a:latin typeface="Arial"/>
              </a:defRPr>
            </a:pPr>
            <a:r>
              <a:rPr/>
              <a:t>4.1</a:t>
            </a:r>
          </a:p>
        </p:txBody>
      </p:sp>
      <p:sp>
        <p:nvSpPr>
          <p:cNvPr id="12" name="TextBox 11"/>
          <p:cNvSpPr txBox="1"/>
          <p:nvPr/>
        </p:nvSpPr>
        <p:spPr>
          <a:xfrm>
            <a:off x="1618488" y="2286000"/>
            <a:ext cx="4032504" cy="960120"/>
          </a:xfrm>
          <a:prstGeom prst="rect">
            <a:avLst/>
          </a:prstGeom>
          <a:noFill/>
        </p:spPr>
        <p:txBody>
          <a:bodyPr wrap="none" lIns="0" rIns="0" tIns="0" bIns="0">
            <a:spAutoFit/>
          </a:bodyPr>
          <a:lstStyle/>
          <a:p>
            <a:pPr>
              <a:lnSpc>
                <a:spcPct val="110000"/>
              </a:lnSpc>
              <a:spcBef>
                <a:spcPts val="0"/>
              </a:spcBef>
              <a:spcAft>
                <a:spcPts val="0"/>
              </a:spcAft>
              <a:defRPr sz="1800" b="0">
                <a:solidFill>
                  <a:srgbClr val="263648"/>
                </a:solidFill>
                <a:latin typeface="Arial"/>
              </a:defRPr>
            </a:pPr>
            <a:r>
              <a:rPr/>
              <a:t>Containerise ETL with Python 3.11,</a:t>
            </a:r>
          </a:p>
          <a:p>
            <a:pPr>
              <a:lnSpc>
                <a:spcPct val="110000"/>
              </a:lnSpc>
              <a:spcBef>
                <a:spcPts val="0"/>
              </a:spcBef>
              <a:spcAft>
                <a:spcPts val="0"/>
              </a:spcAft>
              <a:defRPr sz="1800" b="0">
                <a:solidFill>
                  <a:srgbClr val="263648"/>
                </a:solidFill>
                <a:latin typeface="Arial"/>
              </a:defRPr>
            </a:pPr>
            <a:r>
              <a:rPr/>
              <a:t>env paths and mounted outputs.</a:t>
            </a:r>
          </a:p>
        </p:txBody>
      </p:sp>
      <p:sp>
        <p:nvSpPr>
          <p:cNvPr id="13" name="TextBox 12"/>
          <p:cNvSpPr txBox="1"/>
          <p:nvPr/>
        </p:nvSpPr>
        <p:spPr>
          <a:xfrm>
            <a:off x="5870448" y="2286000"/>
            <a:ext cx="8101583" cy="960120"/>
          </a:xfrm>
          <a:prstGeom prst="rect">
            <a:avLst/>
          </a:prstGeom>
          <a:noFill/>
        </p:spPr>
        <p:txBody>
          <a:bodyPr wrap="none" lIns="0" rIns="0" tIns="0" bIns="0">
            <a:spAutoFit/>
          </a:bodyPr>
          <a:lstStyle/>
          <a:p>
            <a:pPr>
              <a:lnSpc>
                <a:spcPct val="110000"/>
              </a:lnSpc>
              <a:spcBef>
                <a:spcPts val="0"/>
              </a:spcBef>
              <a:spcAft>
                <a:spcPts val="0"/>
              </a:spcAft>
              <a:defRPr sz="1800" b="0">
                <a:solidFill>
                  <a:srgbClr val="263648"/>
                </a:solidFill>
                <a:latin typeface="Arial"/>
              </a:defRPr>
            </a:pPr>
            <a:r>
              <a:rPr/>
              <a:t>Created a multi-stage Dockerfile, .dockerignore and Compose override. Runs</a:t>
            </a:r>
          </a:p>
          <a:p>
            <a:pPr>
              <a:lnSpc>
                <a:spcPct val="110000"/>
              </a:lnSpc>
              <a:spcBef>
                <a:spcPts val="0"/>
              </a:spcBef>
              <a:spcAft>
                <a:spcPts val="0"/>
              </a:spcAft>
              <a:defRPr sz="1800" b="0">
                <a:solidFill>
                  <a:srgbClr val="263648"/>
                </a:solidFill>
                <a:latin typeface="Arial"/>
              </a:defRPr>
            </a:pPr>
            <a:r>
              <a:rPr/>
              <a:t>etl_starter.py, reads DATA_DIR/OUTPUT_DIR and exports host-accessible</a:t>
            </a:r>
          </a:p>
          <a:p>
            <a:pPr>
              <a:lnSpc>
                <a:spcPct val="110000"/>
              </a:lnSpc>
              <a:spcBef>
                <a:spcPts val="0"/>
              </a:spcBef>
              <a:spcAft>
                <a:spcPts val="0"/>
              </a:spcAft>
              <a:defRPr sz="1800" b="0">
                <a:solidFill>
                  <a:srgbClr val="263648"/>
                </a:solidFill>
                <a:latin typeface="Arial"/>
              </a:defRPr>
            </a:pPr>
            <a:r>
              <a:rPr/>
              <a:t>files; verified 50K transactions in 2.43 s.</a:t>
            </a:r>
          </a:p>
        </p:txBody>
      </p:sp>
      <p:sp>
        <p:nvSpPr>
          <p:cNvPr id="14" name="Rectangle 13"/>
          <p:cNvSpPr/>
          <p:nvPr/>
        </p:nvSpPr>
        <p:spPr>
          <a:xfrm>
            <a:off x="548640" y="3383280"/>
            <a:ext cx="13533120" cy="1234440"/>
          </a:xfrm>
          <a:prstGeom prst="rect">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520440"/>
            <a:ext cx="740664" cy="960120"/>
          </a:xfrm>
          <a:prstGeom prst="rect">
            <a:avLst/>
          </a:prstGeom>
          <a:noFill/>
        </p:spPr>
        <p:txBody>
          <a:bodyPr wrap="none" lIns="0" rIns="0" tIns="0" bIns="0">
            <a:spAutoFit/>
          </a:bodyPr>
          <a:lstStyle/>
          <a:p>
            <a:pPr>
              <a:lnSpc>
                <a:spcPct val="110000"/>
              </a:lnSpc>
              <a:spcBef>
                <a:spcPts val="0"/>
              </a:spcBef>
              <a:spcAft>
                <a:spcPts val="0"/>
              </a:spcAft>
              <a:defRPr sz="1800" b="1">
                <a:solidFill>
                  <a:srgbClr val="152840"/>
                </a:solidFill>
                <a:latin typeface="Arial"/>
              </a:defRPr>
            </a:pPr>
            <a:r>
              <a:rPr/>
              <a:t>4.2</a:t>
            </a:r>
          </a:p>
        </p:txBody>
      </p:sp>
      <p:sp>
        <p:nvSpPr>
          <p:cNvPr id="16" name="TextBox 15"/>
          <p:cNvSpPr txBox="1"/>
          <p:nvPr/>
        </p:nvSpPr>
        <p:spPr>
          <a:xfrm>
            <a:off x="1618488" y="3520440"/>
            <a:ext cx="4032504" cy="960120"/>
          </a:xfrm>
          <a:prstGeom prst="rect">
            <a:avLst/>
          </a:prstGeom>
          <a:noFill/>
        </p:spPr>
        <p:txBody>
          <a:bodyPr wrap="none" lIns="0" rIns="0" tIns="0" bIns="0">
            <a:spAutoFit/>
          </a:bodyPr>
          <a:lstStyle/>
          <a:p>
            <a:pPr>
              <a:lnSpc>
                <a:spcPct val="110000"/>
              </a:lnSpc>
              <a:spcBef>
                <a:spcPts val="0"/>
              </a:spcBef>
              <a:spcAft>
                <a:spcPts val="0"/>
              </a:spcAft>
              <a:defRPr sz="1800" b="0">
                <a:solidFill>
                  <a:srgbClr val="263648"/>
                </a:solidFill>
                <a:latin typeface="Arial"/>
              </a:defRPr>
            </a:pPr>
            <a:r>
              <a:rPr/>
              <a:t>Inventory/classify all four datasets;</a:t>
            </a:r>
          </a:p>
          <a:p>
            <a:pPr>
              <a:lnSpc>
                <a:spcPct val="110000"/>
              </a:lnSpc>
              <a:spcBef>
                <a:spcPts val="0"/>
              </a:spcBef>
              <a:spcAft>
                <a:spcPts val="0"/>
              </a:spcAft>
              <a:defRPr sz="1800" b="0">
                <a:solidFill>
                  <a:srgbClr val="263648"/>
                </a:solidFill>
                <a:latin typeface="Arial"/>
              </a:defRPr>
            </a:pPr>
            <a:r>
              <a:rPr/>
              <a:t>define governance controls.</a:t>
            </a:r>
          </a:p>
        </p:txBody>
      </p:sp>
      <p:sp>
        <p:nvSpPr>
          <p:cNvPr id="17" name="TextBox 16"/>
          <p:cNvSpPr txBox="1"/>
          <p:nvPr/>
        </p:nvSpPr>
        <p:spPr>
          <a:xfrm>
            <a:off x="5870448" y="3520440"/>
            <a:ext cx="8101583" cy="960120"/>
          </a:xfrm>
          <a:prstGeom prst="rect">
            <a:avLst/>
          </a:prstGeom>
          <a:noFill/>
        </p:spPr>
        <p:txBody>
          <a:bodyPr wrap="none" lIns="0" rIns="0" tIns="0" bIns="0">
            <a:spAutoFit/>
          </a:bodyPr>
          <a:lstStyle/>
          <a:p>
            <a:pPr>
              <a:lnSpc>
                <a:spcPct val="110000"/>
              </a:lnSpc>
              <a:spcBef>
                <a:spcPts val="0"/>
              </a:spcBef>
              <a:spcAft>
                <a:spcPts val="0"/>
              </a:spcAft>
              <a:defRPr sz="1800" b="0">
                <a:solidFill>
                  <a:srgbClr val="263648"/>
                </a:solidFill>
                <a:latin typeface="Arial"/>
              </a:defRPr>
            </a:pPr>
            <a:r>
              <a:rPr/>
              <a:t>Prepared data_governance_document.md: all 45 columns classified,</a:t>
            </a:r>
          </a:p>
          <a:p>
            <a:pPr>
              <a:lnSpc>
                <a:spcPct val="110000"/>
              </a:lnSpc>
              <a:spcBef>
                <a:spcPts val="0"/>
              </a:spcBef>
              <a:spcAft>
                <a:spcPts val="0"/>
              </a:spcAft>
              <a:defRPr sz="1800" b="0">
                <a:solidFill>
                  <a:srgbClr val="263648"/>
                </a:solidFill>
                <a:latin typeface="Arial"/>
              </a:defRPr>
            </a:pPr>
            <a:r>
              <a:rPr/>
              <a:t>PII/privacy scope documented, ownership, retention and access policies</a:t>
            </a:r>
          </a:p>
          <a:p>
            <a:pPr>
              <a:lnSpc>
                <a:spcPct val="110000"/>
              </a:lnSpc>
              <a:spcBef>
                <a:spcPts val="0"/>
              </a:spcBef>
              <a:spcAft>
                <a:spcPts val="0"/>
              </a:spcAft>
              <a:defRPr sz="1800" b="0">
                <a:solidFill>
                  <a:srgbClr val="263648"/>
                </a:solidFill>
                <a:latin typeface="Arial"/>
              </a:defRPr>
            </a:pPr>
            <a:r>
              <a:rPr/>
              <a:t>defined; lineage diagrammed.</a:t>
            </a:r>
          </a:p>
        </p:txBody>
      </p:sp>
      <p:sp>
        <p:nvSpPr>
          <p:cNvPr id="18" name="Rectangle 17"/>
          <p:cNvSpPr/>
          <p:nvPr/>
        </p:nvSpPr>
        <p:spPr>
          <a:xfrm>
            <a:off x="548640" y="4617720"/>
            <a:ext cx="1353312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754880"/>
            <a:ext cx="740664" cy="960120"/>
          </a:xfrm>
          <a:prstGeom prst="rect">
            <a:avLst/>
          </a:prstGeom>
          <a:noFill/>
        </p:spPr>
        <p:txBody>
          <a:bodyPr wrap="none" lIns="0" rIns="0" tIns="0" bIns="0">
            <a:spAutoFit/>
          </a:bodyPr>
          <a:lstStyle/>
          <a:p>
            <a:pPr>
              <a:lnSpc>
                <a:spcPct val="110000"/>
              </a:lnSpc>
              <a:spcBef>
                <a:spcPts val="0"/>
              </a:spcBef>
              <a:spcAft>
                <a:spcPts val="0"/>
              </a:spcAft>
              <a:defRPr sz="1800" b="1">
                <a:solidFill>
                  <a:srgbClr val="152840"/>
                </a:solidFill>
                <a:latin typeface="Arial"/>
              </a:defRPr>
            </a:pPr>
            <a:r>
              <a:rPr/>
              <a:t>4.3</a:t>
            </a:r>
          </a:p>
        </p:txBody>
      </p:sp>
      <p:sp>
        <p:nvSpPr>
          <p:cNvPr id="20" name="TextBox 19"/>
          <p:cNvSpPr txBox="1"/>
          <p:nvPr/>
        </p:nvSpPr>
        <p:spPr>
          <a:xfrm>
            <a:off x="1618488" y="4754880"/>
            <a:ext cx="4032504" cy="960120"/>
          </a:xfrm>
          <a:prstGeom prst="rect">
            <a:avLst/>
          </a:prstGeom>
          <a:noFill/>
        </p:spPr>
        <p:txBody>
          <a:bodyPr wrap="none" lIns="0" rIns="0" tIns="0" bIns="0">
            <a:spAutoFit/>
          </a:bodyPr>
          <a:lstStyle/>
          <a:p>
            <a:pPr>
              <a:lnSpc>
                <a:spcPct val="110000"/>
              </a:lnSpc>
              <a:spcBef>
                <a:spcPts val="0"/>
              </a:spcBef>
              <a:spcAft>
                <a:spcPts val="0"/>
              </a:spcAft>
              <a:defRPr sz="1800" b="0">
                <a:solidFill>
                  <a:srgbClr val="263648"/>
                </a:solidFill>
                <a:latin typeface="Arial"/>
              </a:defRPr>
            </a:pPr>
            <a:r>
              <a:rPr/>
              <a:t>Configurable quality rules, scores,</a:t>
            </a:r>
          </a:p>
          <a:p>
            <a:pPr>
              <a:lnSpc>
                <a:spcPct val="110000"/>
              </a:lnSpc>
              <a:spcBef>
                <a:spcPts val="0"/>
              </a:spcBef>
              <a:spcAft>
                <a:spcPts val="0"/>
              </a:spcAft>
              <a:defRPr sz="1800" b="0">
                <a:solidFill>
                  <a:srgbClr val="263648"/>
                </a:solidFill>
                <a:latin typeface="Arial"/>
              </a:defRPr>
            </a:pPr>
            <a:r>
              <a:rPr/>
              <a:t>warnings and reports.</a:t>
            </a:r>
          </a:p>
        </p:txBody>
      </p:sp>
      <p:sp>
        <p:nvSpPr>
          <p:cNvPr id="21" name="TextBox 20"/>
          <p:cNvSpPr txBox="1"/>
          <p:nvPr/>
        </p:nvSpPr>
        <p:spPr>
          <a:xfrm>
            <a:off x="5870448" y="4754880"/>
            <a:ext cx="8101583" cy="960120"/>
          </a:xfrm>
          <a:prstGeom prst="rect">
            <a:avLst/>
          </a:prstGeom>
          <a:noFill/>
        </p:spPr>
        <p:txBody>
          <a:bodyPr wrap="none" lIns="0" rIns="0" tIns="0" bIns="0">
            <a:spAutoFit/>
          </a:bodyPr>
          <a:lstStyle/>
          <a:p>
            <a:pPr>
              <a:lnSpc>
                <a:spcPct val="110000"/>
              </a:lnSpc>
              <a:spcBef>
                <a:spcPts val="0"/>
              </a:spcBef>
              <a:spcAft>
                <a:spcPts val="0"/>
              </a:spcAft>
              <a:defRPr sz="1800" b="0">
                <a:solidFill>
                  <a:srgbClr val="263648"/>
                </a:solidFill>
                <a:latin typeface="Arial"/>
              </a:defRPr>
            </a:pPr>
            <a:r>
              <a:rPr/>
              <a:t>Built rule_config.csv with six fields and 79 rules, plus a Python runner. Reports</a:t>
            </a:r>
          </a:p>
          <a:p>
            <a:pPr>
              <a:lnSpc>
                <a:spcPct val="110000"/>
              </a:lnSpc>
              <a:spcBef>
                <a:spcPts val="0"/>
              </a:spcBef>
              <a:spcAft>
                <a:spcPts val="0"/>
              </a:spcAft>
              <a:defRPr sz="1800" b="0">
                <a:solidFill>
                  <a:srgbClr val="263648"/>
                </a:solidFill>
                <a:latin typeface="Arial"/>
              </a:defRPr>
            </a:pPr>
            <a:r>
              <a:rPr/>
              <a:t>each rule’s score in CSV/markdown/JSON; includes freshness and distribution.</a:t>
            </a:r>
          </a:p>
          <a:p>
            <a:pPr>
              <a:lnSpc>
                <a:spcPct val="110000"/>
              </a:lnSpc>
              <a:spcBef>
                <a:spcPts val="0"/>
              </a:spcBef>
              <a:spcAft>
                <a:spcPts val="0"/>
              </a:spcAft>
              <a:defRPr sz="1800" b="0">
                <a:solidFill>
                  <a:srgbClr val="263648"/>
                </a:solidFill>
                <a:latin typeface="Arial"/>
              </a:defRPr>
            </a:pPr>
            <a:r>
              <a:rPr/>
              <a:t>Nine tests passed.</a:t>
            </a:r>
          </a:p>
        </p:txBody>
      </p:sp>
      <p:sp>
        <p:nvSpPr>
          <p:cNvPr id="22" name="Rectangle 21"/>
          <p:cNvSpPr/>
          <p:nvPr/>
        </p:nvSpPr>
        <p:spPr>
          <a:xfrm>
            <a:off x="548640" y="6080760"/>
            <a:ext cx="1353312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217920"/>
            <a:ext cx="9144000" cy="274320"/>
          </a:xfrm>
          <a:prstGeom prst="rect">
            <a:avLst/>
          </a:prstGeom>
          <a:noFill/>
        </p:spPr>
        <p:txBody>
          <a:bodyPr wrap="none" lIns="0" rIns="0" tIns="0" bIns="0">
            <a:spAutoFit/>
          </a:bodyPr>
          <a:lstStyle/>
          <a:p>
            <a:pPr>
              <a:lnSpc>
                <a:spcPct val="110000"/>
              </a:lnSpc>
              <a:spcBef>
                <a:spcPts val="0"/>
              </a:spcBef>
              <a:spcAft>
                <a:spcPts val="0"/>
              </a:spcAft>
              <a:defRPr sz="1500" b="1">
                <a:solidFill>
                  <a:srgbClr val="087F8C"/>
                </a:solidFill>
                <a:latin typeface="Arial"/>
              </a:defRPr>
            </a:pPr>
            <a:r>
              <a:rPr/>
              <a:t>GOVERNANCE DOCUMENT | SIX REQUIRED SECTIONS</a:t>
            </a:r>
          </a:p>
        </p:txBody>
      </p:sp>
      <p:sp>
        <p:nvSpPr>
          <p:cNvPr id="24" name="TextBox 23"/>
          <p:cNvSpPr txBox="1"/>
          <p:nvPr/>
        </p:nvSpPr>
        <p:spPr>
          <a:xfrm>
            <a:off x="731520" y="6629400"/>
            <a:ext cx="9144000" cy="530352"/>
          </a:xfrm>
          <a:prstGeom prst="rect">
            <a:avLst/>
          </a:prstGeom>
          <a:noFill/>
        </p:spPr>
        <p:txBody>
          <a:bodyPr wrap="none" lIns="0" rIns="0" tIns="0" bIns="0">
            <a:spAutoFit/>
          </a:bodyPr>
          <a:lstStyle/>
          <a:p>
            <a:pPr>
              <a:lnSpc>
                <a:spcPct val="110000"/>
              </a:lnSpc>
              <a:spcBef>
                <a:spcPts val="0"/>
              </a:spcBef>
              <a:spcAft>
                <a:spcPts val="0"/>
              </a:spcAft>
              <a:defRPr sz="1600" b="0">
                <a:solidFill>
                  <a:srgbClr val="263648"/>
                </a:solidFill>
                <a:latin typeface="Arial"/>
              </a:defRPr>
            </a:pPr>
            <a:r>
              <a:rPr/>
              <a:t>Inventory • Classification • Ownership • Retention • Access control • Lineage</a:t>
            </a:r>
          </a:p>
          <a:p>
            <a:pPr>
              <a:lnSpc>
                <a:spcPct val="110000"/>
              </a:lnSpc>
              <a:spcBef>
                <a:spcPts val="0"/>
              </a:spcBef>
              <a:spcAft>
                <a:spcPts val="0"/>
              </a:spcAft>
              <a:defRPr sz="1600" b="0">
                <a:solidFill>
                  <a:srgbClr val="263648"/>
                </a:solidFill>
                <a:latin typeface="Arial"/>
              </a:defRPr>
            </a:pPr>
            <a:r>
              <a:rPr/>
              <a:t>Salary history has restricted access and separate retention requirements.</a:t>
            </a:r>
          </a:p>
        </p:txBody>
      </p:sp>
      <p:sp>
        <p:nvSpPr>
          <p:cNvPr id="25" name="Rectangle 24"/>
          <p:cNvSpPr/>
          <p:nvPr/>
        </p:nvSpPr>
        <p:spPr>
          <a:xfrm>
            <a:off x="10241280" y="6556248"/>
            <a:ext cx="3566160" cy="5029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r:id="rId3"/>
          </p:cNvPr>
          <p:cNvSpPr txBox="1"/>
          <p:nvPr/>
        </p:nvSpPr>
        <p:spPr>
          <a:xfrm>
            <a:off x="10351007" y="6647688"/>
            <a:ext cx="3346704" cy="374904"/>
          </a:xfrm>
          <a:prstGeom prst="rect">
            <a:avLst/>
          </a:prstGeom>
          <a:noFill/>
        </p:spPr>
        <p:txBody>
          <a:bodyPr wrap="none" lIns="0" rIns="0" tIns="0" bIns="0">
            <a:spAutoFit/>
          </a:bodyPr>
          <a:lstStyle/>
          <a:p>
            <a:pPr>
              <a:lnSpc>
                <a:spcPct val="110000"/>
              </a:lnSpc>
              <a:spcBef>
                <a:spcPts val="0"/>
              </a:spcBef>
              <a:spcAft>
                <a:spcPts val="0"/>
              </a:spcAft>
              <a:defRPr sz="1200" b="1">
                <a:solidFill>
                  <a:srgbClr val="FFFFFF"/>
                </a:solidFill>
                <a:latin typeface="Arial"/>
              </a:defRPr>
            </a:pPr>
            <a:r>
              <a:rPr/>
              <a:t>Open governance document</a:t>
            </a:r>
          </a:p>
        </p:txBody>
      </p:sp>
      <p:sp>
        <p:nvSpPr>
          <p:cNvPr id="27" name="TextBox 26"/>
          <p:cNvSpPr txBox="1"/>
          <p:nvPr/>
        </p:nvSpPr>
        <p:spPr>
          <a:xfrm>
            <a:off x="548640" y="7607808"/>
            <a:ext cx="13533120" cy="292608"/>
          </a:xfrm>
          <a:prstGeom prst="rect">
            <a:avLst/>
          </a:prstGeom>
          <a:noFill/>
        </p:spPr>
        <p:txBody>
          <a:bodyPr wrap="none" lIns="0" rIns="0" tIns="0" bIns="0">
            <a:spAutoFit/>
          </a:bodyPr>
          <a:lstStyle/>
          <a:p>
            <a:pPr>
              <a:lnSpc>
                <a:spcPct val="110000"/>
              </a:lnSpc>
              <a:spcBef>
                <a:spcPts val="0"/>
              </a:spcBef>
              <a:spcAft>
                <a:spcPts val="0"/>
              </a:spcAft>
              <a:defRPr sz="1200" b="0">
                <a:solidFill>
                  <a:srgbClr val="5F7185"/>
                </a:solidFill>
                <a:latin typeface="Arial"/>
              </a:defRPr>
            </a:pPr>
            <a:r>
              <a:rPr/>
              <a:t>Governance describes proposed policies; the local ETL does not enforce production access or retention.</a:t>
            </a:r>
          </a:p>
        </p:txBody>
      </p:sp>
      <p:sp>
        <p:nvSpPr>
          <p:cNvPr id="28" name="TextBox 27"/>
          <p:cNvSpPr txBox="1"/>
          <p:nvPr/>
        </p:nvSpPr>
        <p:spPr>
          <a:xfrm>
            <a:off x="548640" y="8028431"/>
            <a:ext cx="12344400" cy="182880"/>
          </a:xfrm>
          <a:prstGeom prst="rect">
            <a:avLst/>
          </a:prstGeom>
          <a:noFill/>
        </p:spPr>
        <p:txBody>
          <a:bodyPr wrap="none" lIns="0" rIns="0" tIns="0" bIns="0">
            <a:spAutoFit/>
          </a:bodyPr>
          <a:lstStyle/>
          <a:p>
            <a:pPr>
              <a:lnSpc>
                <a:spcPct val="110000"/>
              </a:lnSpc>
              <a:spcBef>
                <a:spcPts val="0"/>
              </a:spcBef>
              <a:spcAft>
                <a:spcPts val="0"/>
              </a:spcAft>
              <a:defRPr sz="1000" b="0">
                <a:solidFill>
                  <a:srgbClr val="5F7185"/>
                </a:solidFill>
                <a:latin typeface="Arial"/>
              </a:defRPr>
            </a:pPr>
            <a:r>
              <a:rPr/>
              <a:t>Deepak Shinghal | Engineering Assessment | 14 October 2026</a:t>
            </a:r>
          </a:p>
        </p:txBody>
      </p:sp>
      <p:sp>
        <p:nvSpPr>
          <p:cNvPr id="29" name="TextBox 28"/>
          <p:cNvSpPr txBox="1"/>
          <p:nvPr/>
        </p:nvSpPr>
        <p:spPr>
          <a:xfrm>
            <a:off x="13624560" y="8028431"/>
            <a:ext cx="457200" cy="182880"/>
          </a:xfrm>
          <a:prstGeom prst="rect">
            <a:avLst/>
          </a:prstGeom>
          <a:noFill/>
        </p:spPr>
        <p:txBody>
          <a:bodyPr wrap="none" lIns="0" rIns="0" tIns="0" bIns="0">
            <a:spAutoFit/>
          </a:bodyPr>
          <a:lstStyle/>
          <a:p>
            <a:pPr>
              <a:lnSpc>
                <a:spcPct val="110000"/>
              </a:lnSpc>
              <a:spcBef>
                <a:spcPts val="0"/>
              </a:spcBef>
              <a:spcAft>
                <a:spcPts val="0"/>
              </a:spcAft>
              <a:defRPr sz="1000" b="0">
                <a:solidFill>
                  <a:srgbClr val="5F7185"/>
                </a:solidFill>
                <a:latin typeface="Arial"/>
              </a:defRPr>
            </a:pPr>
            <a:r>
              <a:rPr/>
              <a:t>05 / 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8229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51560"/>
            <a:ext cx="12801600" cy="457200"/>
          </a:xfrm>
          <a:prstGeom prst="rect">
            <a:avLst/>
          </a:prstGeom>
          <a:noFill/>
        </p:spPr>
        <p:txBody>
          <a:bodyPr wrap="none">
            <a:spAutoFit/>
          </a:bodyPr>
          <a:lstStyle/>
          <a:p>
            <a:pPr>
              <a:defRPr sz="1800" b="1">
                <a:solidFill>
                  <a:srgbClr val="087F8C"/>
                </a:solidFill>
                <a:latin typeface="Arial"/>
              </a:defRPr>
            </a:pPr>
            <a:r>
              <a:t>ENGINEERING ASSESSMENT</a:t>
            </a:r>
          </a:p>
        </p:txBody>
      </p:sp>
      <p:sp>
        <p:nvSpPr>
          <p:cNvPr id="4" name="TextBox 3"/>
          <p:cNvSpPr txBox="1"/>
          <p:nvPr/>
        </p:nvSpPr>
        <p:spPr>
          <a:xfrm>
            <a:off x="914400" y="2286000"/>
            <a:ext cx="12801600" cy="1188720"/>
          </a:xfrm>
          <a:prstGeom prst="rect">
            <a:avLst/>
          </a:prstGeom>
          <a:noFill/>
        </p:spPr>
        <p:txBody>
          <a:bodyPr wrap="none">
            <a:spAutoFit/>
          </a:bodyPr>
          <a:lstStyle/>
          <a:p>
            <a:pPr>
              <a:defRPr sz="4400" b="1">
                <a:solidFill>
                  <a:srgbClr val="152840"/>
                </a:solidFill>
                <a:latin typeface="Arial"/>
              </a:defRPr>
            </a:pPr>
            <a:r>
              <a:t>Thank you</a:t>
            </a:r>
          </a:p>
        </p:txBody>
      </p:sp>
      <p:sp>
        <p:nvSpPr>
          <p:cNvPr id="5" name="TextBox 4"/>
          <p:cNvSpPr txBox="1"/>
          <p:nvPr/>
        </p:nvSpPr>
        <p:spPr>
          <a:xfrm>
            <a:off x="914400" y="3703320"/>
            <a:ext cx="12801600" cy="914400"/>
          </a:xfrm>
          <a:prstGeom prst="rect">
            <a:avLst/>
          </a:prstGeom>
          <a:noFill/>
        </p:spPr>
        <p:txBody>
          <a:bodyPr wrap="none">
            <a:spAutoFit/>
          </a:bodyPr>
          <a:lstStyle/>
          <a:p>
            <a:pPr>
              <a:defRPr sz="2400" b="0">
                <a:solidFill>
                  <a:srgbClr val="536477"/>
                </a:solidFill>
                <a:latin typeface="Arial"/>
              </a:defRPr>
            </a:pPr>
            <a:r>
              <a:t>Questions &amp; discussion</a:t>
            </a:r>
          </a:p>
        </p:txBody>
      </p:sp>
      <p:sp>
        <p:nvSpPr>
          <p:cNvPr id="6" name="TextBox 5"/>
          <p:cNvSpPr txBox="1"/>
          <p:nvPr/>
        </p:nvSpPr>
        <p:spPr>
          <a:xfrm>
            <a:off x="914400" y="6126480"/>
            <a:ext cx="12801600" cy="548640"/>
          </a:xfrm>
          <a:prstGeom prst="rect">
            <a:avLst/>
          </a:prstGeom>
          <a:noFill/>
        </p:spPr>
        <p:txBody>
          <a:bodyPr wrap="none">
            <a:spAutoFit/>
          </a:bodyPr>
          <a:lstStyle/>
          <a:p>
            <a:pPr>
              <a:defRPr sz="2400" b="1">
                <a:solidFill>
                  <a:srgbClr val="152840"/>
                </a:solidFill>
                <a:latin typeface="Arial"/>
              </a:defRPr>
            </a:pPr>
            <a:r>
              <a:t>Deepak Shinghal</a:t>
            </a:r>
          </a:p>
        </p:txBody>
      </p:sp>
      <p:sp>
        <p:nvSpPr>
          <p:cNvPr id="7" name="TextBox 6"/>
          <p:cNvSpPr txBox="1"/>
          <p:nvPr/>
        </p:nvSpPr>
        <p:spPr>
          <a:xfrm>
            <a:off x="914400" y="6812280"/>
            <a:ext cx="12801600" cy="365760"/>
          </a:xfrm>
          <a:prstGeom prst="rect">
            <a:avLst/>
          </a:prstGeom>
          <a:noFill/>
        </p:spPr>
        <p:txBody>
          <a:bodyPr wrap="none">
            <a:spAutoFit/>
          </a:bodyPr>
          <a:lstStyle/>
          <a:p>
            <a:pPr>
              <a:defRPr sz="1400" b="0">
                <a:solidFill>
                  <a:srgbClr val="536477"/>
                </a:solidFill>
                <a:latin typeface="Arial"/>
              </a:defRPr>
            </a:pPr>
            <a:r>
              <a:t>14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Assessment — Four Pillars</dc:title>
  <dc:subject>Questions asked and implementation summary</dc:subject>
  <dc:creator>Deepak Shinghal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